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548640" y="457200"/>
            <a:ext cx="137160" cy="137160"/>
          </a:xfrm>
          <a:prstGeom prst="rect">
            <a:avLst/>
          </a:prstGeom>
          <a:solidFill>
            <a:srgbClr val="FF6B47"/>
          </a:solidFill>
          <a:ln w="12700">
            <a:solidFill>
              <a:srgbClr val="FF6B47"/>
            </a:solidFill>
            <a:prstDash val="solid"/>
          </a:ln>
        </p:spPr>
      </p:sp>
      <p:sp>
        <p:nvSpPr>
          <p:cNvPr id="3" name="Text 1"/>
          <p:cNvSpPr/>
          <p:nvPr/>
        </p:nvSpPr>
        <p:spPr>
          <a:xfrm>
            <a:off x="548640" y="777240"/>
            <a:ext cx="4572000" cy="274320"/>
          </a:xfrm>
          <a:prstGeom prst="rect">
            <a:avLst/>
          </a:prstGeom>
          <a:noFill/>
          <a:ln/>
        </p:spPr>
        <p:txBody>
          <a:bodyPr wrap="square" lIns="0" tIns="0" rIns="0" bIns="0" rtlCol="0" anchor="ctr"/>
          <a:lstStyle/>
          <a:p>
            <a:pPr indent="0" marL="0">
              <a:buNone/>
            </a:pPr>
            <a:r>
              <a:rPr lang="en-US" sz="1100" b="1" spc="600" kern="0" dirty="0">
                <a:solidFill>
                  <a:srgbClr val="FF6B47"/>
                </a:solidFill>
                <a:latin typeface="Calibri" pitchFamily="34" charset="0"/>
                <a:ea typeface="Calibri" pitchFamily="34" charset="-122"/>
                <a:cs typeface="Calibri" pitchFamily="34" charset="-120"/>
              </a:rPr>
              <a:t>AGENT SKILLS</a:t>
            </a:r>
            <a:endParaRPr lang="en-US" sz="1100" dirty="0"/>
          </a:p>
        </p:txBody>
      </p:sp>
      <p:sp>
        <p:nvSpPr>
          <p:cNvPr id="4" name="Text 2"/>
          <p:cNvSpPr/>
          <p:nvPr/>
        </p:nvSpPr>
        <p:spPr>
          <a:xfrm>
            <a:off x="548640" y="1188720"/>
            <a:ext cx="8229600" cy="914400"/>
          </a:xfrm>
          <a:prstGeom prst="rect">
            <a:avLst/>
          </a:prstGeom>
          <a:noFill/>
          <a:ln/>
        </p:spPr>
        <p:txBody>
          <a:bodyPr wrap="square" lIns="0" tIns="0" rIns="0" bIns="0" rtlCol="0" anchor="ctr"/>
          <a:lstStyle/>
          <a:p>
            <a:pPr indent="0" marL="0">
              <a:buNone/>
            </a:pPr>
            <a:r>
              <a:rPr lang="en-US" sz="6400" b="1" dirty="0">
                <a:solidFill>
                  <a:srgbClr val="FFFFFF"/>
                </a:solidFill>
                <a:latin typeface="Georgia" pitchFamily="34" charset="0"/>
                <a:ea typeface="Georgia" pitchFamily="34" charset="-122"/>
                <a:cs typeface="Georgia" pitchFamily="34" charset="-120"/>
              </a:rPr>
              <a:t>The goal</a:t>
            </a:r>
            <a:endParaRPr lang="en-US" sz="6400" dirty="0"/>
          </a:p>
        </p:txBody>
      </p:sp>
      <p:sp>
        <p:nvSpPr>
          <p:cNvPr id="5" name="Text 3"/>
          <p:cNvSpPr/>
          <p:nvPr/>
        </p:nvSpPr>
        <p:spPr>
          <a:xfrm>
            <a:off x="548640" y="2377440"/>
            <a:ext cx="6858000" cy="1097280"/>
          </a:xfrm>
          <a:prstGeom prst="rect">
            <a:avLst/>
          </a:prstGeom>
          <a:noFill/>
          <a:ln/>
        </p:spPr>
        <p:txBody>
          <a:bodyPr wrap="square" lIns="0" tIns="0" rIns="0" bIns="0" rtlCol="0" anchor="ctr"/>
          <a:lstStyle/>
          <a:p>
            <a:pPr indent="0" marL="0">
              <a:buNone/>
            </a:pPr>
            <a:r>
              <a:rPr lang="en-US" sz="1900" dirty="0">
                <a:solidFill>
                  <a:srgbClr val="E5E7EB"/>
                </a:solidFill>
                <a:latin typeface="Calibri" pitchFamily="34" charset="0"/>
                <a:ea typeface="Calibri" pitchFamily="34" charset="-122"/>
                <a:cs typeface="Calibri" pitchFamily="34" charset="-120"/>
              </a:rPr>
              <a:t>Make AI agents reliably </a:t>
            </a:r>
            <a:pPr indent="0" marL="0">
              <a:buNone/>
            </a:pPr>
            <a:r>
              <a:rPr lang="en-US" sz="1900" b="1" dirty="0">
                <a:solidFill>
                  <a:srgbClr val="FF6B47"/>
                </a:solidFill>
                <a:latin typeface="Calibri" pitchFamily="34" charset="0"/>
                <a:ea typeface="Calibri" pitchFamily="34" charset="-122"/>
                <a:cs typeface="Calibri" pitchFamily="34" charset="-120"/>
              </a:rPr>
              <a:t>specialized</a:t>
            </a:r>
            <a:pPr indent="0" marL="0">
              <a:buNone/>
            </a:pPr>
            <a:r>
              <a:rPr lang="en-US" sz="1900" dirty="0">
                <a:solidFill>
                  <a:srgbClr val="E5E7EB"/>
                </a:solidFill>
                <a:latin typeface="Calibri" pitchFamily="34" charset="0"/>
                <a:ea typeface="Calibri" pitchFamily="34" charset="-122"/>
                <a:cs typeface="Calibri" pitchFamily="34" charset="-120"/>
              </a:rPr>
              <a:t> — to our codebase, our conventions, our standards — without re-prompting them from scratch every time.</a:t>
            </a:r>
            <a:endParaRPr lang="en-US" sz="1900" dirty="0"/>
          </a:p>
        </p:txBody>
      </p:sp>
      <p:sp>
        <p:nvSpPr>
          <p:cNvPr id="6" name="Shape 4"/>
          <p:cNvSpPr/>
          <p:nvPr/>
        </p:nvSpPr>
        <p:spPr>
          <a:xfrm>
            <a:off x="548640" y="3886200"/>
            <a:ext cx="36576" cy="822960"/>
          </a:xfrm>
          <a:prstGeom prst="rect">
            <a:avLst/>
          </a:prstGeom>
          <a:solidFill>
            <a:srgbClr val="FF6B47"/>
          </a:solidFill>
          <a:ln w="12700">
            <a:solidFill>
              <a:srgbClr val="FF6B47"/>
            </a:solidFill>
            <a:prstDash val="solid"/>
          </a:ln>
        </p:spPr>
      </p:sp>
      <p:sp>
        <p:nvSpPr>
          <p:cNvPr id="7" name="Text 5"/>
          <p:cNvSpPr/>
          <p:nvPr/>
        </p:nvSpPr>
        <p:spPr>
          <a:xfrm>
            <a:off x="731520" y="3886200"/>
            <a:ext cx="3657600" cy="228600"/>
          </a:xfrm>
          <a:prstGeom prst="rect">
            <a:avLst/>
          </a:prstGeom>
          <a:noFill/>
          <a:ln/>
        </p:spPr>
        <p:txBody>
          <a:bodyPr wrap="square" lIns="0" tIns="0" rIns="0" bIns="0" rtlCol="0" anchor="ctr"/>
          <a:lstStyle/>
          <a:p>
            <a:pPr indent="0" marL="0">
              <a:buNone/>
            </a:pPr>
            <a:r>
              <a:rPr lang="en-US" sz="1000" b="1" spc="400" kern="0" dirty="0">
                <a:solidFill>
                  <a:srgbClr val="FF6B47"/>
                </a:solidFill>
                <a:latin typeface="Calibri" pitchFamily="34" charset="0"/>
                <a:ea typeface="Calibri" pitchFamily="34" charset="-122"/>
                <a:cs typeface="Calibri" pitchFamily="34" charset="-120"/>
              </a:rPr>
              <a:t>THE PROBLEM</a:t>
            </a:r>
            <a:endParaRPr lang="en-US" sz="1000" dirty="0"/>
          </a:p>
        </p:txBody>
      </p:sp>
      <p:sp>
        <p:nvSpPr>
          <p:cNvPr id="8" name="Text 6"/>
          <p:cNvSpPr/>
          <p:nvPr/>
        </p:nvSpPr>
        <p:spPr>
          <a:xfrm>
            <a:off x="731520" y="4142232"/>
            <a:ext cx="3657600" cy="6400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Out of the box, agents are generalists. Your work isn’t.</a:t>
            </a:r>
            <a:endParaRPr lang="en-US" sz="1300" dirty="0"/>
          </a:p>
        </p:txBody>
      </p:sp>
      <p:sp>
        <p:nvSpPr>
          <p:cNvPr id="9" name="Shape 7"/>
          <p:cNvSpPr/>
          <p:nvPr/>
        </p:nvSpPr>
        <p:spPr>
          <a:xfrm>
            <a:off x="4663440" y="3886200"/>
            <a:ext cx="36576" cy="822960"/>
          </a:xfrm>
          <a:prstGeom prst="rect">
            <a:avLst/>
          </a:prstGeom>
          <a:solidFill>
            <a:srgbClr val="FF6B47"/>
          </a:solidFill>
          <a:ln w="12700">
            <a:solidFill>
              <a:srgbClr val="FF6B47"/>
            </a:solidFill>
            <a:prstDash val="solid"/>
          </a:ln>
        </p:spPr>
      </p:sp>
      <p:sp>
        <p:nvSpPr>
          <p:cNvPr id="10" name="Text 8"/>
          <p:cNvSpPr/>
          <p:nvPr/>
        </p:nvSpPr>
        <p:spPr>
          <a:xfrm>
            <a:off x="4846320" y="3886200"/>
            <a:ext cx="3657600" cy="228600"/>
          </a:xfrm>
          <a:prstGeom prst="rect">
            <a:avLst/>
          </a:prstGeom>
          <a:noFill/>
          <a:ln/>
        </p:spPr>
        <p:txBody>
          <a:bodyPr wrap="square" lIns="0" tIns="0" rIns="0" bIns="0" rtlCol="0" anchor="ctr"/>
          <a:lstStyle/>
          <a:p>
            <a:pPr indent="0" marL="0">
              <a:buNone/>
            </a:pPr>
            <a:r>
              <a:rPr lang="en-US" sz="1000" b="1" spc="400" kern="0" dirty="0">
                <a:solidFill>
                  <a:srgbClr val="FF6B47"/>
                </a:solidFill>
                <a:latin typeface="Calibri" pitchFamily="34" charset="0"/>
                <a:ea typeface="Calibri" pitchFamily="34" charset="-122"/>
                <a:cs typeface="Calibri" pitchFamily="34" charset="-120"/>
              </a:rPr>
              <a:t>THE FIX</a:t>
            </a:r>
            <a:endParaRPr lang="en-US" sz="1000" dirty="0"/>
          </a:p>
        </p:txBody>
      </p:sp>
      <p:sp>
        <p:nvSpPr>
          <p:cNvPr id="11" name="Text 9"/>
          <p:cNvSpPr/>
          <p:nvPr/>
        </p:nvSpPr>
        <p:spPr>
          <a:xfrm>
            <a:off x="4846320" y="4142232"/>
            <a:ext cx="3657600" cy="6400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Skills package the “how we do it here” into something the agent can load on demand.</a:t>
            </a:r>
            <a:endParaRPr lang="en-US" sz="1300" dirty="0"/>
          </a:p>
        </p:txBody>
      </p:sp>
      <p:sp>
        <p:nvSpPr>
          <p:cNvPr id="12" name="Shape 10"/>
          <p:cNvSpPr/>
          <p:nvPr/>
        </p:nvSpPr>
        <p:spPr>
          <a:xfrm>
            <a:off x="7680960" y="1280160"/>
            <a:ext cx="1005840" cy="1005840"/>
          </a:xfrm>
          <a:prstGeom prst="ellipse">
            <a:avLst/>
          </a:prstGeom>
          <a:solidFill>
            <a:srgbClr val="FFFFFF"/>
          </a:solidFill>
          <a:ln w="12700">
            <a:solidFill>
              <a:srgbClr val="FFFFFF"/>
            </a:solidFill>
            <a:prstDash val="solid"/>
          </a:ln>
        </p:spPr>
      </p:sp>
      <p:pic>
        <p:nvPicPr>
          <p:cNvPr id="13" name="Image 0" descr="preencoded.png">    </p:cNvPr>
          <p:cNvPicPr>
            <a:picLocks noChangeAspect="1"/>
          </p:cNvPicPr>
          <p:nvPr/>
        </p:nvPicPr>
        <p:blipFill>
          <a:blip r:embed="rId1"/>
          <a:stretch>
            <a:fillRect/>
          </a:stretch>
        </p:blipFill>
        <p:spPr>
          <a:xfrm>
            <a:off x="7955280" y="1554480"/>
            <a:ext cx="457200"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732520" y="320040"/>
            <a:ext cx="109728" cy="109728"/>
          </a:xfrm>
          <a:prstGeom prst="rect">
            <a:avLst/>
          </a:prstGeom>
          <a:solidFill>
            <a:srgbClr val="FF6B47"/>
          </a:solidFill>
          <a:ln w="12700">
            <a:solidFill>
              <a:srgbClr val="FF6B47"/>
            </a:solidFill>
            <a:prstDash val="solid"/>
          </a:ln>
        </p:spPr>
      </p:sp>
      <p:sp>
        <p:nvSpPr>
          <p:cNvPr id="3" name="Text 1"/>
          <p:cNvSpPr/>
          <p:nvPr/>
        </p:nvSpPr>
        <p:spPr>
          <a:xfrm>
            <a:off x="548640" y="411480"/>
            <a:ext cx="3657600" cy="274320"/>
          </a:xfrm>
          <a:prstGeom prst="rect">
            <a:avLst/>
          </a:prstGeom>
          <a:noFill/>
          <a:ln/>
        </p:spPr>
        <p:txBody>
          <a:bodyPr wrap="square" lIns="0" tIns="0" rIns="0" bIns="0" rtlCol="0" anchor="ctr"/>
          <a:lstStyle/>
          <a:p>
            <a:pPr indent="0" marL="0">
              <a:buNone/>
            </a:pPr>
            <a:r>
              <a:rPr lang="en-US" sz="1000" b="1" spc="500" kern="0" dirty="0">
                <a:solidFill>
                  <a:srgbClr val="FF6B47"/>
                </a:solidFill>
                <a:latin typeface="Calibri" pitchFamily="34" charset="0"/>
                <a:ea typeface="Calibri" pitchFamily="34" charset="-122"/>
                <a:cs typeface="Calibri" pitchFamily="34" charset="-120"/>
              </a:rPr>
              <a:t>01  ·  DEFINITION</a:t>
            </a:r>
            <a:endParaRPr lang="en-US" sz="1000" dirty="0"/>
          </a:p>
        </p:txBody>
      </p:sp>
      <p:sp>
        <p:nvSpPr>
          <p:cNvPr id="4" name="Text 2"/>
          <p:cNvSpPr/>
          <p:nvPr/>
        </p:nvSpPr>
        <p:spPr>
          <a:xfrm>
            <a:off x="548640" y="777240"/>
            <a:ext cx="8229600" cy="640080"/>
          </a:xfrm>
          <a:prstGeom prst="rect">
            <a:avLst/>
          </a:prstGeom>
          <a:noFill/>
          <a:ln/>
        </p:spPr>
        <p:txBody>
          <a:bodyPr wrap="square" lIns="0" tIns="0" rIns="0" bIns="0" rtlCol="0" anchor="ctr"/>
          <a:lstStyle/>
          <a:p>
            <a:pPr indent="0" marL="0">
              <a:buNone/>
            </a:pPr>
            <a:r>
              <a:rPr lang="en-US" sz="3800" b="1" dirty="0">
                <a:solidFill>
                  <a:srgbClr val="1A1A2E"/>
                </a:solidFill>
                <a:latin typeface="Georgia" pitchFamily="34" charset="0"/>
                <a:ea typeface="Georgia" pitchFamily="34" charset="-122"/>
                <a:cs typeface="Georgia" pitchFamily="34" charset="-120"/>
              </a:rPr>
              <a:t>What is an Agent Skill?</a:t>
            </a:r>
            <a:endParaRPr lang="en-US" sz="3800" dirty="0"/>
          </a:p>
        </p:txBody>
      </p:sp>
      <p:sp>
        <p:nvSpPr>
          <p:cNvPr id="5" name="Text 3"/>
          <p:cNvSpPr/>
          <p:nvPr/>
        </p:nvSpPr>
        <p:spPr>
          <a:xfrm>
            <a:off x="548640" y="1828800"/>
            <a:ext cx="4754880" cy="1463040"/>
          </a:xfrm>
          <a:prstGeom prst="rect">
            <a:avLst/>
          </a:prstGeom>
          <a:noFill/>
          <a:ln/>
        </p:spPr>
        <p:txBody>
          <a:bodyPr wrap="square" lIns="0" tIns="0" rIns="0" bIns="0" rtlCol="0" anchor="t"/>
          <a:lstStyle/>
          <a:p>
            <a:pPr indent="0" marL="0">
              <a:buNone/>
            </a:pPr>
            <a:r>
              <a:rPr lang="en-US" sz="1700" dirty="0">
                <a:solidFill>
                  <a:srgbClr val="334155"/>
                </a:solidFill>
                <a:latin typeface="Calibri" pitchFamily="34" charset="0"/>
                <a:ea typeface="Calibri" pitchFamily="34" charset="-122"/>
                <a:cs typeface="Calibri" pitchFamily="34" charset="-120"/>
              </a:rPr>
              <a:t>A </a:t>
            </a:r>
            <a:pPr indent="0" marL="0">
              <a:buNone/>
            </a:pPr>
            <a:r>
              <a:rPr lang="en-US" sz="1700" b="1" dirty="0">
                <a:solidFill>
                  <a:srgbClr val="FF6B47"/>
                </a:solidFill>
                <a:latin typeface="Calibri" pitchFamily="34" charset="0"/>
                <a:ea typeface="Calibri" pitchFamily="34" charset="-122"/>
                <a:cs typeface="Calibri" pitchFamily="34" charset="-120"/>
              </a:rPr>
              <a:t>Skill</a:t>
            </a:r>
            <a:pPr indent="0" marL="0">
              <a:buNone/>
            </a:pPr>
            <a:r>
              <a:rPr lang="en-US" sz="1700" dirty="0">
                <a:solidFill>
                  <a:srgbClr val="334155"/>
                </a:solidFill>
                <a:latin typeface="Calibri" pitchFamily="34" charset="0"/>
                <a:ea typeface="Calibri" pitchFamily="34" charset="-122"/>
                <a:cs typeface="Calibri" pitchFamily="34" charset="-120"/>
              </a:rPr>
              <a:t> is a folder of instructions, scripts, and resources that an agent can </a:t>
            </a:r>
            <a:pPr indent="0" marL="0">
              <a:buNone/>
            </a:pPr>
            <a:r>
              <a:rPr lang="en-US" sz="1700" b="1" dirty="0">
                <a:solidFill>
                  <a:srgbClr val="1A1A2E"/>
                </a:solidFill>
                <a:latin typeface="Calibri" pitchFamily="34" charset="0"/>
                <a:ea typeface="Calibri" pitchFamily="34" charset="-122"/>
                <a:cs typeface="Calibri" pitchFamily="34" charset="-120"/>
              </a:rPr>
              <a:t>discover and load on demand</a:t>
            </a:r>
            <a:pPr indent="0" marL="0">
              <a:buNone/>
            </a:pPr>
            <a:r>
              <a:rPr lang="en-US" sz="1700" dirty="0">
                <a:solidFill>
                  <a:srgbClr val="334155"/>
                </a:solidFill>
                <a:latin typeface="Calibri" pitchFamily="34" charset="0"/>
                <a:ea typeface="Calibri" pitchFamily="34" charset="-122"/>
                <a:cs typeface="Calibri" pitchFamily="34" charset="-120"/>
              </a:rPr>
              <a:t> to perform a specialized task better.</a:t>
            </a:r>
            <a:endParaRPr lang="en-US" sz="1700" dirty="0"/>
          </a:p>
        </p:txBody>
      </p:sp>
      <p:sp>
        <p:nvSpPr>
          <p:cNvPr id="6" name="Text 4"/>
          <p:cNvSpPr/>
          <p:nvPr/>
        </p:nvSpPr>
        <p:spPr>
          <a:xfrm>
            <a:off x="548640" y="3383280"/>
            <a:ext cx="4754880" cy="914400"/>
          </a:xfrm>
          <a:prstGeom prst="rect">
            <a:avLst/>
          </a:prstGeom>
          <a:noFill/>
          <a:ln/>
        </p:spPr>
        <p:txBody>
          <a:bodyPr wrap="square" lIns="0" tIns="0" rIns="0" bIns="0" rtlCol="0" anchor="t"/>
          <a:lstStyle/>
          <a:p>
            <a:pPr indent="0" marL="0">
              <a:buNone/>
            </a:pPr>
            <a:r>
              <a:rPr lang="en-US" sz="1300" i="1" dirty="0">
                <a:solidFill>
                  <a:srgbClr val="64748B"/>
                </a:solidFill>
                <a:latin typeface="Calibri" pitchFamily="34" charset="0"/>
                <a:ea typeface="Calibri" pitchFamily="34" charset="-122"/>
                <a:cs typeface="Calibri" pitchFamily="34" charset="-120"/>
              </a:rPr>
              <a:t>Think of Skills as procedural knowledge — the “how we do things here” that a brilliant new hire would otherwise lack.</a:t>
            </a:r>
            <a:endParaRPr lang="en-US" sz="1300" dirty="0"/>
          </a:p>
        </p:txBody>
      </p:sp>
      <p:sp>
        <p:nvSpPr>
          <p:cNvPr id="7" name="Shape 5"/>
          <p:cNvSpPr/>
          <p:nvPr/>
        </p:nvSpPr>
        <p:spPr>
          <a:xfrm>
            <a:off x="5669280" y="1737360"/>
            <a:ext cx="3017520" cy="3017520"/>
          </a:xfrm>
          <a:prstGeom prst="rect">
            <a:avLst/>
          </a:prstGeom>
          <a:solidFill>
            <a:srgbClr val="F4EDE4"/>
          </a:solidFill>
          <a:ln w="12700">
            <a:solidFill>
              <a:srgbClr val="F4EDE4"/>
            </a:solidFill>
            <a:prstDash val="solid"/>
          </a:ln>
          <a:effectLst>
            <a:outerShdw sx="100000" sy="100000" kx="0" ky="0" algn="bl" rotWithShape="0" blurRad="152400" dist="38100" dir="5400000">
              <a:srgbClr val="000000">
                <a:alpha val="8000"/>
              </a:srgbClr>
            </a:outerShdw>
          </a:effectLst>
        </p:spPr>
      </p:sp>
      <p:sp>
        <p:nvSpPr>
          <p:cNvPr id="8" name="Shape 6"/>
          <p:cNvSpPr/>
          <p:nvPr/>
        </p:nvSpPr>
        <p:spPr>
          <a:xfrm>
            <a:off x="5669280" y="1737360"/>
            <a:ext cx="73152" cy="3017520"/>
          </a:xfrm>
          <a:prstGeom prst="rect">
            <a:avLst/>
          </a:prstGeom>
          <a:solidFill>
            <a:srgbClr val="FF6B47"/>
          </a:solidFill>
          <a:ln w="12700">
            <a:solidFill>
              <a:srgbClr val="FF6B47"/>
            </a:solidFill>
            <a:prstDash val="solid"/>
          </a:ln>
        </p:spPr>
      </p:sp>
      <p:sp>
        <p:nvSpPr>
          <p:cNvPr id="9" name="Text 7"/>
          <p:cNvSpPr/>
          <p:nvPr/>
        </p:nvSpPr>
        <p:spPr>
          <a:xfrm>
            <a:off x="5943600" y="1920240"/>
            <a:ext cx="2286000" cy="274320"/>
          </a:xfrm>
          <a:prstGeom prst="rect">
            <a:avLst/>
          </a:prstGeom>
          <a:noFill/>
          <a:ln/>
        </p:spPr>
        <p:txBody>
          <a:bodyPr wrap="square" lIns="0" tIns="0" rIns="0" bIns="0" rtlCol="0" anchor="ctr"/>
          <a:lstStyle/>
          <a:p>
            <a:pPr indent="0" marL="0">
              <a:buNone/>
            </a:pPr>
            <a:r>
              <a:rPr lang="en-US" sz="900" b="1" spc="400" kern="0" dirty="0">
                <a:solidFill>
                  <a:srgbClr val="64748B"/>
                </a:solidFill>
                <a:latin typeface="Calibri" pitchFamily="34" charset="0"/>
                <a:ea typeface="Calibri" pitchFamily="34" charset="-122"/>
                <a:cs typeface="Calibri" pitchFamily="34" charset="-120"/>
              </a:rPr>
              <a:t>AT ITS CORE</a:t>
            </a:r>
            <a:endParaRPr lang="en-US" sz="900" dirty="0"/>
          </a:p>
        </p:txBody>
      </p:sp>
      <p:pic>
        <p:nvPicPr>
          <p:cNvPr id="10" name="Image 0" descr="preencoded.png">    </p:cNvPr>
          <p:cNvPicPr>
            <a:picLocks noChangeAspect="1"/>
          </p:cNvPicPr>
          <p:nvPr/>
        </p:nvPicPr>
        <p:blipFill>
          <a:blip r:embed="rId1"/>
          <a:stretch>
            <a:fillRect/>
          </a:stretch>
        </p:blipFill>
        <p:spPr>
          <a:xfrm>
            <a:off x="5943600" y="2377440"/>
            <a:ext cx="292608" cy="292608"/>
          </a:xfrm>
          <a:prstGeom prst="rect">
            <a:avLst/>
          </a:prstGeom>
        </p:spPr>
      </p:pic>
      <p:sp>
        <p:nvSpPr>
          <p:cNvPr id="11" name="Text 8"/>
          <p:cNvSpPr/>
          <p:nvPr/>
        </p:nvSpPr>
        <p:spPr>
          <a:xfrm>
            <a:off x="6355080" y="2331720"/>
            <a:ext cx="2194560" cy="274320"/>
          </a:xfrm>
          <a:prstGeom prst="rect">
            <a:avLst/>
          </a:prstGeom>
          <a:noFill/>
          <a:ln/>
        </p:spPr>
        <p:txBody>
          <a:bodyPr wrap="square" lIns="0" tIns="0" rIns="0" bIns="0" rtlCol="0" anchor="ctr"/>
          <a:lstStyle/>
          <a:p>
            <a:pPr indent="0" marL="0">
              <a:buNone/>
            </a:pPr>
            <a:r>
              <a:rPr lang="en-US" sz="1400" b="1" dirty="0">
                <a:solidFill>
                  <a:srgbClr val="1A1A2E"/>
                </a:solidFill>
                <a:latin typeface="Georgia" pitchFamily="34" charset="0"/>
                <a:ea typeface="Georgia" pitchFamily="34" charset="-122"/>
                <a:cs typeface="Georgia" pitchFamily="34" charset="-120"/>
              </a:rPr>
              <a:t>A folder</a:t>
            </a:r>
            <a:endParaRPr lang="en-US" sz="1400" dirty="0"/>
          </a:p>
        </p:txBody>
      </p:sp>
      <p:sp>
        <p:nvSpPr>
          <p:cNvPr id="12" name="Text 9"/>
          <p:cNvSpPr/>
          <p:nvPr/>
        </p:nvSpPr>
        <p:spPr>
          <a:xfrm>
            <a:off x="6355080" y="2606040"/>
            <a:ext cx="2194560" cy="36576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Just files. Markdown, scripts, assets.</a:t>
            </a:r>
            <a:endParaRPr lang="en-US" sz="1100" dirty="0"/>
          </a:p>
        </p:txBody>
      </p:sp>
      <p:pic>
        <p:nvPicPr>
          <p:cNvPr id="13" name="Image 1" descr="preencoded.png">    </p:cNvPr>
          <p:cNvPicPr>
            <a:picLocks noChangeAspect="1"/>
          </p:cNvPicPr>
          <p:nvPr/>
        </p:nvPicPr>
        <p:blipFill>
          <a:blip r:embed="rId2"/>
          <a:stretch>
            <a:fillRect/>
          </a:stretch>
        </p:blipFill>
        <p:spPr>
          <a:xfrm>
            <a:off x="5943600" y="3154680"/>
            <a:ext cx="292608" cy="292608"/>
          </a:xfrm>
          <a:prstGeom prst="rect">
            <a:avLst/>
          </a:prstGeom>
        </p:spPr>
      </p:pic>
      <p:sp>
        <p:nvSpPr>
          <p:cNvPr id="14" name="Text 10"/>
          <p:cNvSpPr/>
          <p:nvPr/>
        </p:nvSpPr>
        <p:spPr>
          <a:xfrm>
            <a:off x="6355080" y="3108960"/>
            <a:ext cx="2194560" cy="274320"/>
          </a:xfrm>
          <a:prstGeom prst="rect">
            <a:avLst/>
          </a:prstGeom>
          <a:noFill/>
          <a:ln/>
        </p:spPr>
        <p:txBody>
          <a:bodyPr wrap="square" lIns="0" tIns="0" rIns="0" bIns="0" rtlCol="0" anchor="ctr"/>
          <a:lstStyle/>
          <a:p>
            <a:pPr indent="0" marL="0">
              <a:buNone/>
            </a:pPr>
            <a:r>
              <a:rPr lang="en-US" sz="1400" b="1" dirty="0">
                <a:solidFill>
                  <a:srgbClr val="1A1A2E"/>
                </a:solidFill>
                <a:latin typeface="Georgia" pitchFamily="34" charset="0"/>
                <a:ea typeface="Georgia" pitchFamily="34" charset="-122"/>
                <a:cs typeface="Georgia" pitchFamily="34" charset="-120"/>
              </a:rPr>
              <a:t>Loaded on demand</a:t>
            </a:r>
            <a:endParaRPr lang="en-US" sz="1400" dirty="0"/>
          </a:p>
        </p:txBody>
      </p:sp>
      <p:sp>
        <p:nvSpPr>
          <p:cNvPr id="15" name="Text 11"/>
          <p:cNvSpPr/>
          <p:nvPr/>
        </p:nvSpPr>
        <p:spPr>
          <a:xfrm>
            <a:off x="6355080" y="3383280"/>
            <a:ext cx="2194560" cy="36576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Only when the task calls for it.</a:t>
            </a:r>
            <a:endParaRPr lang="en-US" sz="1100" dirty="0"/>
          </a:p>
        </p:txBody>
      </p:sp>
      <p:pic>
        <p:nvPicPr>
          <p:cNvPr id="16" name="Image 2" descr="preencoded.png">    </p:cNvPr>
          <p:cNvPicPr>
            <a:picLocks noChangeAspect="1"/>
          </p:cNvPicPr>
          <p:nvPr/>
        </p:nvPicPr>
        <p:blipFill>
          <a:blip r:embed="rId3"/>
          <a:stretch>
            <a:fillRect/>
          </a:stretch>
        </p:blipFill>
        <p:spPr>
          <a:xfrm>
            <a:off x="5943600" y="3931920"/>
            <a:ext cx="292608" cy="292608"/>
          </a:xfrm>
          <a:prstGeom prst="rect">
            <a:avLst/>
          </a:prstGeom>
        </p:spPr>
      </p:pic>
      <p:sp>
        <p:nvSpPr>
          <p:cNvPr id="17" name="Text 12"/>
          <p:cNvSpPr/>
          <p:nvPr/>
        </p:nvSpPr>
        <p:spPr>
          <a:xfrm>
            <a:off x="6355080" y="3886200"/>
            <a:ext cx="2194560" cy="274320"/>
          </a:xfrm>
          <a:prstGeom prst="rect">
            <a:avLst/>
          </a:prstGeom>
          <a:noFill/>
          <a:ln/>
        </p:spPr>
        <p:txBody>
          <a:bodyPr wrap="square" lIns="0" tIns="0" rIns="0" bIns="0" rtlCol="0" anchor="ctr"/>
          <a:lstStyle/>
          <a:p>
            <a:pPr indent="0" marL="0">
              <a:buNone/>
            </a:pPr>
            <a:r>
              <a:rPr lang="en-US" sz="1400" b="1" dirty="0">
                <a:solidFill>
                  <a:srgbClr val="1A1A2E"/>
                </a:solidFill>
                <a:latin typeface="Georgia" pitchFamily="34" charset="0"/>
                <a:ea typeface="Georgia" pitchFamily="34" charset="-122"/>
                <a:cs typeface="Georgia" pitchFamily="34" charset="-120"/>
              </a:rPr>
              <a:t>Reusable</a:t>
            </a:r>
            <a:endParaRPr lang="en-US" sz="1400" dirty="0"/>
          </a:p>
        </p:txBody>
      </p:sp>
      <p:sp>
        <p:nvSpPr>
          <p:cNvPr id="18" name="Text 13"/>
          <p:cNvSpPr/>
          <p:nvPr/>
        </p:nvSpPr>
        <p:spPr>
          <a:xfrm>
            <a:off x="6355080" y="4160520"/>
            <a:ext cx="2194560" cy="36576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Write once, invoke everywhere.</a:t>
            </a:r>
            <a:endParaRPr lang="en-US" sz="1100" dirty="0"/>
          </a:p>
        </p:txBody>
      </p:sp>
      <p:sp>
        <p:nvSpPr>
          <p:cNvPr id="19" name="Text 14"/>
          <p:cNvSpPr/>
          <p:nvPr/>
        </p:nvSpPr>
        <p:spPr>
          <a:xfrm>
            <a:off x="457200" y="4800600"/>
            <a:ext cx="1371600" cy="228600"/>
          </a:xfrm>
          <a:prstGeom prst="rect">
            <a:avLst/>
          </a:prstGeom>
          <a:noFill/>
          <a:ln/>
        </p:spPr>
        <p:txBody>
          <a:bodyPr wrap="square" rtlCol="0" anchor="ctr"/>
          <a:lstStyle/>
          <a:p>
            <a:pPr indent="0" marL="0">
              <a:buNone/>
            </a:pPr>
            <a:r>
              <a:rPr lang="en-US" sz="900" spc="200" kern="0" dirty="0">
                <a:solidFill>
                  <a:srgbClr val="64748B"/>
                </a:solidFill>
                <a:latin typeface="Calibri" pitchFamily="34" charset="0"/>
                <a:ea typeface="Calibri" pitchFamily="34" charset="-122"/>
                <a:cs typeface="Calibri" pitchFamily="34" charset="-120"/>
              </a:rPr>
              <a:t>02 / 07</a:t>
            </a:r>
            <a:endParaRPr lang="en-US" sz="900" dirty="0"/>
          </a:p>
        </p:txBody>
      </p:sp>
      <p:sp>
        <p:nvSpPr>
          <p:cNvPr id="20" name="Text 15"/>
          <p:cNvSpPr/>
          <p:nvPr/>
        </p:nvSpPr>
        <p:spPr>
          <a:xfrm>
            <a:off x="7315200" y="4800600"/>
            <a:ext cx="1371600" cy="228600"/>
          </a:xfrm>
          <a:prstGeom prst="rect">
            <a:avLst/>
          </a:prstGeom>
          <a:noFill/>
          <a:ln/>
        </p:spPr>
        <p:txBody>
          <a:bodyPr wrap="square" rtlCol="0" anchor="ctr"/>
          <a:lstStyle/>
          <a:p>
            <a:pPr algn="r" indent="0" marL="0">
              <a:buNone/>
            </a:pPr>
            <a:r>
              <a:rPr lang="en-US" sz="900" b="1" spc="300" kern="0" dirty="0">
                <a:solidFill>
                  <a:srgbClr val="64748B"/>
                </a:solidFill>
                <a:latin typeface="Calibri" pitchFamily="34" charset="0"/>
                <a:ea typeface="Calibri" pitchFamily="34" charset="-122"/>
                <a:cs typeface="Calibri" pitchFamily="34" charset="-120"/>
              </a:rPr>
              <a:t>AGENT SKILLS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732520" y="320040"/>
            <a:ext cx="109728" cy="109728"/>
          </a:xfrm>
          <a:prstGeom prst="rect">
            <a:avLst/>
          </a:prstGeom>
          <a:solidFill>
            <a:srgbClr val="FF6B47"/>
          </a:solidFill>
          <a:ln w="12700">
            <a:solidFill>
              <a:srgbClr val="FF6B47"/>
            </a:solidFill>
            <a:prstDash val="solid"/>
          </a:ln>
        </p:spPr>
      </p:sp>
      <p:sp>
        <p:nvSpPr>
          <p:cNvPr id="3" name="Text 1"/>
          <p:cNvSpPr/>
          <p:nvPr/>
        </p:nvSpPr>
        <p:spPr>
          <a:xfrm>
            <a:off x="548640" y="411480"/>
            <a:ext cx="3657600" cy="274320"/>
          </a:xfrm>
          <a:prstGeom prst="rect">
            <a:avLst/>
          </a:prstGeom>
          <a:noFill/>
          <a:ln/>
        </p:spPr>
        <p:txBody>
          <a:bodyPr wrap="square" lIns="0" tIns="0" rIns="0" bIns="0" rtlCol="0" anchor="ctr"/>
          <a:lstStyle/>
          <a:p>
            <a:pPr indent="0" marL="0">
              <a:buNone/>
            </a:pPr>
            <a:r>
              <a:rPr lang="en-US" sz="1000" b="1" spc="500" kern="0" dirty="0">
                <a:solidFill>
                  <a:srgbClr val="FF6B47"/>
                </a:solidFill>
                <a:latin typeface="Calibri" pitchFamily="34" charset="0"/>
                <a:ea typeface="Calibri" pitchFamily="34" charset="-122"/>
                <a:cs typeface="Calibri" pitchFamily="34" charset="-120"/>
              </a:rPr>
              <a:t>02  ·  ANALOGY</a:t>
            </a:r>
            <a:endParaRPr lang="en-US" sz="1000" dirty="0"/>
          </a:p>
        </p:txBody>
      </p:sp>
      <p:sp>
        <p:nvSpPr>
          <p:cNvPr id="4" name="Text 2"/>
          <p:cNvSpPr/>
          <p:nvPr/>
        </p:nvSpPr>
        <p:spPr>
          <a:xfrm>
            <a:off x="548640" y="777240"/>
            <a:ext cx="8229600" cy="640080"/>
          </a:xfrm>
          <a:prstGeom prst="rect">
            <a:avLst/>
          </a:prstGeom>
          <a:noFill/>
          <a:ln/>
        </p:spPr>
        <p:txBody>
          <a:bodyPr wrap="square" lIns="0" tIns="0" rIns="0" bIns="0" rtlCol="0" anchor="ctr"/>
          <a:lstStyle/>
          <a:p>
            <a:pPr indent="0" marL="0">
              <a:buNone/>
            </a:pPr>
            <a:r>
              <a:rPr lang="en-US" sz="3600" b="1" dirty="0">
                <a:solidFill>
                  <a:srgbClr val="1A1A2E"/>
                </a:solidFill>
                <a:latin typeface="Georgia" pitchFamily="34" charset="0"/>
                <a:ea typeface="Georgia" pitchFamily="34" charset="-122"/>
                <a:cs typeface="Georgia" pitchFamily="34" charset="-120"/>
              </a:rPr>
              <a:t>It’s the senior engineer’s playbook.</a:t>
            </a:r>
            <a:endParaRPr lang="en-US" sz="3600" dirty="0"/>
          </a:p>
        </p:txBody>
      </p:sp>
      <p:sp>
        <p:nvSpPr>
          <p:cNvPr id="5" name="Text 3"/>
          <p:cNvSpPr/>
          <p:nvPr/>
        </p:nvSpPr>
        <p:spPr>
          <a:xfrm>
            <a:off x="548640" y="1554480"/>
            <a:ext cx="8046720" cy="1005840"/>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A new engineer can write Python. But they don’t know which fixtures to use, how your team names tests, what edge cases the runbook says to cover, or how you mock the database. So a teammate hands them the conventions doc — and they pull it out whenever they sit down to write tests.</a:t>
            </a:r>
            <a:endParaRPr lang="en-US" sz="1400" dirty="0"/>
          </a:p>
        </p:txBody>
      </p:sp>
      <p:sp>
        <p:nvSpPr>
          <p:cNvPr id="6" name="Shape 4"/>
          <p:cNvSpPr/>
          <p:nvPr/>
        </p:nvSpPr>
        <p:spPr>
          <a:xfrm>
            <a:off x="548640" y="2788920"/>
            <a:ext cx="3931920" cy="1737360"/>
          </a:xfrm>
          <a:prstGeom prst="rect">
            <a:avLst/>
          </a:prstGeom>
          <a:solidFill>
            <a:srgbClr val="F4EDE4"/>
          </a:solidFill>
          <a:ln w="12700">
            <a:solidFill>
              <a:srgbClr val="F4EDE4"/>
            </a:solidFill>
            <a:prstDash val="solid"/>
          </a:ln>
        </p:spPr>
      </p:sp>
      <p:sp>
        <p:nvSpPr>
          <p:cNvPr id="7" name="Text 5"/>
          <p:cNvSpPr/>
          <p:nvPr/>
        </p:nvSpPr>
        <p:spPr>
          <a:xfrm>
            <a:off x="777240" y="2971800"/>
            <a:ext cx="3200400" cy="274320"/>
          </a:xfrm>
          <a:prstGeom prst="rect">
            <a:avLst/>
          </a:prstGeom>
          <a:noFill/>
          <a:ln/>
        </p:spPr>
        <p:txBody>
          <a:bodyPr wrap="square" lIns="0" tIns="0" rIns="0" bIns="0" rtlCol="0" anchor="ctr"/>
          <a:lstStyle/>
          <a:p>
            <a:pPr indent="0" marL="0">
              <a:buNone/>
            </a:pPr>
            <a:r>
              <a:rPr lang="en-US" sz="1000" b="1" spc="400" kern="0" dirty="0">
                <a:solidFill>
                  <a:srgbClr val="64748B"/>
                </a:solidFill>
                <a:latin typeface="Calibri" pitchFamily="34" charset="0"/>
                <a:ea typeface="Calibri" pitchFamily="34" charset="-122"/>
                <a:cs typeface="Calibri" pitchFamily="34" charset="-120"/>
              </a:rPr>
              <a:t>WITHOUT A SKILL</a:t>
            </a:r>
            <a:endParaRPr lang="en-US" sz="1000" dirty="0"/>
          </a:p>
        </p:txBody>
      </p:sp>
      <p:sp>
        <p:nvSpPr>
          <p:cNvPr id="8" name="Text 6"/>
          <p:cNvSpPr/>
          <p:nvPr/>
        </p:nvSpPr>
        <p:spPr>
          <a:xfrm>
            <a:off x="777240" y="3246120"/>
            <a:ext cx="3566160" cy="457200"/>
          </a:xfrm>
          <a:prstGeom prst="rect">
            <a:avLst/>
          </a:prstGeom>
          <a:noFill/>
          <a:ln/>
        </p:spPr>
        <p:txBody>
          <a:bodyPr wrap="square" lIns="0" tIns="0" rIns="0" bIns="0" rtlCol="0" anchor="ctr"/>
          <a:lstStyle/>
          <a:p>
            <a:pPr indent="0" marL="0">
              <a:buNone/>
            </a:pPr>
            <a:r>
              <a:rPr lang="en-US" sz="1500" b="1" i="1" dirty="0">
                <a:solidFill>
                  <a:srgbClr val="1A1A2E"/>
                </a:solidFill>
                <a:latin typeface="Georgia" pitchFamily="34" charset="0"/>
                <a:ea typeface="Georgia" pitchFamily="34" charset="-122"/>
                <a:cs typeface="Georgia" pitchFamily="34" charset="-120"/>
              </a:rPr>
              <a:t>“Write tests for this function.”</a:t>
            </a:r>
            <a:endParaRPr lang="en-US" sz="1500" dirty="0"/>
          </a:p>
        </p:txBody>
      </p:sp>
      <p:sp>
        <p:nvSpPr>
          <p:cNvPr id="9" name="Text 7"/>
          <p:cNvSpPr/>
          <p:nvPr/>
        </p:nvSpPr>
        <p:spPr>
          <a:xfrm>
            <a:off x="777240" y="3749040"/>
            <a:ext cx="3474720" cy="73152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Generic pytest. Happy path only. Default mocks. Plausible — but nothing like your codebase.</a:t>
            </a:r>
            <a:endParaRPr lang="en-US" sz="1200" dirty="0"/>
          </a:p>
        </p:txBody>
      </p:sp>
      <p:sp>
        <p:nvSpPr>
          <p:cNvPr id="10" name="Shape 8"/>
          <p:cNvSpPr/>
          <p:nvPr/>
        </p:nvSpPr>
        <p:spPr>
          <a:xfrm>
            <a:off x="4663440" y="2788920"/>
            <a:ext cx="3931920" cy="1737360"/>
          </a:xfrm>
          <a:prstGeom prst="rect">
            <a:avLst/>
          </a:prstGeom>
          <a:solidFill>
            <a:srgbClr val="1A1A2E"/>
          </a:solidFill>
          <a:ln w="12700">
            <a:solidFill>
              <a:srgbClr val="1A1A2E"/>
            </a:solidFill>
            <a:prstDash val="solid"/>
          </a:ln>
        </p:spPr>
      </p:sp>
      <p:sp>
        <p:nvSpPr>
          <p:cNvPr id="11" name="Shape 9"/>
          <p:cNvSpPr/>
          <p:nvPr/>
        </p:nvSpPr>
        <p:spPr>
          <a:xfrm>
            <a:off x="4663440" y="2788920"/>
            <a:ext cx="73152" cy="1737360"/>
          </a:xfrm>
          <a:prstGeom prst="rect">
            <a:avLst/>
          </a:prstGeom>
          <a:solidFill>
            <a:srgbClr val="FF6B47"/>
          </a:solidFill>
          <a:ln w="12700">
            <a:solidFill>
              <a:srgbClr val="FF6B47"/>
            </a:solidFill>
            <a:prstDash val="solid"/>
          </a:ln>
        </p:spPr>
      </p:sp>
      <p:sp>
        <p:nvSpPr>
          <p:cNvPr id="12" name="Text 10"/>
          <p:cNvSpPr/>
          <p:nvPr/>
        </p:nvSpPr>
        <p:spPr>
          <a:xfrm>
            <a:off x="4892040" y="2971800"/>
            <a:ext cx="3200400" cy="274320"/>
          </a:xfrm>
          <a:prstGeom prst="rect">
            <a:avLst/>
          </a:prstGeom>
          <a:noFill/>
          <a:ln/>
        </p:spPr>
        <p:txBody>
          <a:bodyPr wrap="square" lIns="0" tIns="0" rIns="0" bIns="0" rtlCol="0" anchor="ctr"/>
          <a:lstStyle/>
          <a:p>
            <a:pPr indent="0" marL="0">
              <a:buNone/>
            </a:pPr>
            <a:r>
              <a:rPr lang="en-US" sz="1000" b="1" spc="400" kern="0" dirty="0">
                <a:solidFill>
                  <a:srgbClr val="FF6B47"/>
                </a:solidFill>
                <a:latin typeface="Calibri" pitchFamily="34" charset="0"/>
                <a:ea typeface="Calibri" pitchFamily="34" charset="-122"/>
                <a:cs typeface="Calibri" pitchFamily="34" charset="-120"/>
              </a:rPr>
              <a:t>WITH A SKILL</a:t>
            </a:r>
            <a:endParaRPr lang="en-US" sz="1000" dirty="0"/>
          </a:p>
        </p:txBody>
      </p:sp>
      <p:sp>
        <p:nvSpPr>
          <p:cNvPr id="13" name="Text 11"/>
          <p:cNvSpPr/>
          <p:nvPr/>
        </p:nvSpPr>
        <p:spPr>
          <a:xfrm>
            <a:off x="4892040" y="3246120"/>
            <a:ext cx="3566160" cy="457200"/>
          </a:xfrm>
          <a:prstGeom prst="rect">
            <a:avLst/>
          </a:prstGeom>
          <a:noFill/>
          <a:ln/>
        </p:spPr>
        <p:txBody>
          <a:bodyPr wrap="square" lIns="0" tIns="0" rIns="0" bIns="0" rtlCol="0" anchor="ctr"/>
          <a:lstStyle/>
          <a:p>
            <a:pPr indent="0" marL="0">
              <a:buNone/>
            </a:pPr>
            <a:r>
              <a:rPr lang="en-US" sz="1500" b="1" i="1" dirty="0">
                <a:solidFill>
                  <a:srgbClr val="FFFFFF"/>
                </a:solidFill>
                <a:latin typeface="Georgia" pitchFamily="34" charset="0"/>
                <a:ea typeface="Georgia" pitchFamily="34" charset="-122"/>
                <a:cs typeface="Georgia" pitchFamily="34" charset="-120"/>
              </a:rPr>
              <a:t>“Write tests for this function.”</a:t>
            </a:r>
            <a:endParaRPr lang="en-US" sz="1500" dirty="0"/>
          </a:p>
        </p:txBody>
      </p:sp>
      <p:sp>
        <p:nvSpPr>
          <p:cNvPr id="14" name="Text 12"/>
          <p:cNvSpPr/>
          <p:nvPr/>
        </p:nvSpPr>
        <p:spPr>
          <a:xfrm>
            <a:off x="4892040" y="3749040"/>
            <a:ext cx="3474720" cy="731520"/>
          </a:xfrm>
          <a:prstGeom prst="rect">
            <a:avLst/>
          </a:prstGeom>
          <a:noFill/>
          <a:ln/>
        </p:spPr>
        <p:txBody>
          <a:bodyPr wrap="square" lIns="0" tIns="0" rIns="0" bIns="0" rtlCol="0" anchor="ctr"/>
          <a:lstStyle/>
          <a:p>
            <a:pPr indent="0" marL="0">
              <a:buNone/>
            </a:pPr>
            <a:r>
              <a:rPr lang="en-US" sz="1200" dirty="0">
                <a:solidFill>
                  <a:srgbClr val="E5E7EB"/>
                </a:solidFill>
                <a:latin typeface="Calibri" pitchFamily="34" charset="0"/>
                <a:ea typeface="Calibri" pitchFamily="34" charset="-122"/>
                <a:cs typeface="Calibri" pitchFamily="34" charset="-120"/>
              </a:rPr>
              <a:t>Your fixtures. Your naming. Edge cases the runbook flags. Mocks in your house style.</a:t>
            </a:r>
            <a:endParaRPr lang="en-US" sz="1200" dirty="0"/>
          </a:p>
        </p:txBody>
      </p:sp>
      <p:sp>
        <p:nvSpPr>
          <p:cNvPr id="15" name="Text 13"/>
          <p:cNvSpPr/>
          <p:nvPr/>
        </p:nvSpPr>
        <p:spPr>
          <a:xfrm>
            <a:off x="457200" y="4800600"/>
            <a:ext cx="1371600" cy="228600"/>
          </a:xfrm>
          <a:prstGeom prst="rect">
            <a:avLst/>
          </a:prstGeom>
          <a:noFill/>
          <a:ln/>
        </p:spPr>
        <p:txBody>
          <a:bodyPr wrap="square" rtlCol="0" anchor="ctr"/>
          <a:lstStyle/>
          <a:p>
            <a:pPr indent="0" marL="0">
              <a:buNone/>
            </a:pPr>
            <a:r>
              <a:rPr lang="en-US" sz="900" spc="200" kern="0" dirty="0">
                <a:solidFill>
                  <a:srgbClr val="64748B"/>
                </a:solidFill>
                <a:latin typeface="Calibri" pitchFamily="34" charset="0"/>
                <a:ea typeface="Calibri" pitchFamily="34" charset="-122"/>
                <a:cs typeface="Calibri" pitchFamily="34" charset="-120"/>
              </a:rPr>
              <a:t>03 / 07</a:t>
            </a:r>
            <a:endParaRPr lang="en-US" sz="900" dirty="0"/>
          </a:p>
        </p:txBody>
      </p:sp>
      <p:sp>
        <p:nvSpPr>
          <p:cNvPr id="16" name="Text 14"/>
          <p:cNvSpPr/>
          <p:nvPr/>
        </p:nvSpPr>
        <p:spPr>
          <a:xfrm>
            <a:off x="7315200" y="4800600"/>
            <a:ext cx="1371600" cy="228600"/>
          </a:xfrm>
          <a:prstGeom prst="rect">
            <a:avLst/>
          </a:prstGeom>
          <a:noFill/>
          <a:ln/>
        </p:spPr>
        <p:txBody>
          <a:bodyPr wrap="square" rtlCol="0" anchor="ctr"/>
          <a:lstStyle/>
          <a:p>
            <a:pPr algn="r" indent="0" marL="0">
              <a:buNone/>
            </a:pPr>
            <a:r>
              <a:rPr lang="en-US" sz="900" b="1" spc="300" kern="0" dirty="0">
                <a:solidFill>
                  <a:srgbClr val="64748B"/>
                </a:solidFill>
                <a:latin typeface="Calibri" pitchFamily="34" charset="0"/>
                <a:ea typeface="Calibri" pitchFamily="34" charset="-122"/>
                <a:cs typeface="Calibri" pitchFamily="34" charset="-120"/>
              </a:rPr>
              <a:t>AGENT SKILLS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732520" y="320040"/>
            <a:ext cx="109728" cy="109728"/>
          </a:xfrm>
          <a:prstGeom prst="rect">
            <a:avLst/>
          </a:prstGeom>
          <a:solidFill>
            <a:srgbClr val="FF6B47"/>
          </a:solidFill>
          <a:ln w="12700">
            <a:solidFill>
              <a:srgbClr val="FF6B47"/>
            </a:solidFill>
            <a:prstDash val="solid"/>
          </a:ln>
        </p:spPr>
      </p:sp>
      <p:sp>
        <p:nvSpPr>
          <p:cNvPr id="3" name="Text 1"/>
          <p:cNvSpPr/>
          <p:nvPr/>
        </p:nvSpPr>
        <p:spPr>
          <a:xfrm>
            <a:off x="548640" y="411480"/>
            <a:ext cx="3657600" cy="274320"/>
          </a:xfrm>
          <a:prstGeom prst="rect">
            <a:avLst/>
          </a:prstGeom>
          <a:noFill/>
          <a:ln/>
        </p:spPr>
        <p:txBody>
          <a:bodyPr wrap="square" lIns="0" tIns="0" rIns="0" bIns="0" rtlCol="0" anchor="ctr"/>
          <a:lstStyle/>
          <a:p>
            <a:pPr indent="0" marL="0">
              <a:buNone/>
            </a:pPr>
            <a:r>
              <a:rPr lang="en-US" sz="1000" b="1" spc="500" kern="0" dirty="0">
                <a:solidFill>
                  <a:srgbClr val="FF6B47"/>
                </a:solidFill>
                <a:latin typeface="Calibri" pitchFamily="34" charset="0"/>
                <a:ea typeface="Calibri" pitchFamily="34" charset="-122"/>
                <a:cs typeface="Calibri" pitchFamily="34" charset="-120"/>
              </a:rPr>
              <a:t>03  ·  ANATOMY</a:t>
            </a:r>
            <a:endParaRPr lang="en-US" sz="1000" dirty="0"/>
          </a:p>
        </p:txBody>
      </p:sp>
      <p:sp>
        <p:nvSpPr>
          <p:cNvPr id="4" name="Text 2"/>
          <p:cNvSpPr/>
          <p:nvPr/>
        </p:nvSpPr>
        <p:spPr>
          <a:xfrm>
            <a:off x="548640" y="777240"/>
            <a:ext cx="8229600" cy="640080"/>
          </a:xfrm>
          <a:prstGeom prst="rect">
            <a:avLst/>
          </a:prstGeom>
          <a:noFill/>
          <a:ln/>
        </p:spPr>
        <p:txBody>
          <a:bodyPr wrap="square" lIns="0" tIns="0" rIns="0" bIns="0" rtlCol="0" anchor="ctr"/>
          <a:lstStyle/>
          <a:p>
            <a:pPr indent="0" marL="0">
              <a:buNone/>
            </a:pPr>
            <a:r>
              <a:rPr lang="en-US" sz="3800" b="1" dirty="0">
                <a:solidFill>
                  <a:srgbClr val="1A1A2E"/>
                </a:solidFill>
                <a:latin typeface="Georgia" pitchFamily="34" charset="0"/>
                <a:ea typeface="Georgia" pitchFamily="34" charset="-122"/>
                <a:cs typeface="Georgia" pitchFamily="34" charset="-120"/>
              </a:rPr>
              <a:t>What’s actually inside one?</a:t>
            </a:r>
            <a:endParaRPr lang="en-US" sz="3800" dirty="0"/>
          </a:p>
        </p:txBody>
      </p:sp>
      <p:sp>
        <p:nvSpPr>
          <p:cNvPr id="5" name="Shape 3"/>
          <p:cNvSpPr/>
          <p:nvPr/>
        </p:nvSpPr>
        <p:spPr>
          <a:xfrm>
            <a:off x="548640" y="1691640"/>
            <a:ext cx="4023360" cy="2743200"/>
          </a:xfrm>
          <a:prstGeom prst="rect">
            <a:avLst/>
          </a:prstGeom>
          <a:solidFill>
            <a:srgbClr val="1A1A2E"/>
          </a:solidFill>
          <a:ln w="12700">
            <a:solidFill>
              <a:srgbClr val="1A1A2E"/>
            </a:solidFill>
            <a:prstDash val="solid"/>
          </a:ln>
          <a:effectLst>
            <a:outerShdw sx="100000" sy="100000" kx="0" ky="0" algn="bl" rotWithShape="0" blurRad="152400" dist="38100" dir="5400000">
              <a:srgbClr val="000000">
                <a:alpha val="8000"/>
              </a:srgbClr>
            </a:outerShdw>
          </a:effectLst>
        </p:spPr>
      </p:sp>
      <p:sp>
        <p:nvSpPr>
          <p:cNvPr id="6" name="Text 4"/>
          <p:cNvSpPr/>
          <p:nvPr/>
        </p:nvSpPr>
        <p:spPr>
          <a:xfrm>
            <a:off x="822960" y="1920240"/>
            <a:ext cx="3657600" cy="274320"/>
          </a:xfrm>
          <a:prstGeom prst="rect">
            <a:avLst/>
          </a:prstGeom>
          <a:noFill/>
          <a:ln/>
        </p:spPr>
        <p:txBody>
          <a:bodyPr wrap="square" lIns="0" tIns="0" rIns="0" bIns="0" rtlCol="0" anchor="ctr"/>
          <a:lstStyle/>
          <a:p>
            <a:pPr indent="0" marL="0">
              <a:buNone/>
            </a:pPr>
            <a:r>
              <a:rPr lang="en-US" sz="1300" b="1" dirty="0">
                <a:solidFill>
                  <a:srgbClr val="FF6B47"/>
                </a:solidFill>
                <a:latin typeface="Consolas" pitchFamily="34" charset="0"/>
                <a:ea typeface="Consolas" pitchFamily="34" charset="-122"/>
                <a:cs typeface="Consolas" pitchFamily="34" charset="-120"/>
              </a:rPr>
              <a:t>test-writing/</a:t>
            </a:r>
            <a:endParaRPr lang="en-US" sz="1300" dirty="0"/>
          </a:p>
        </p:txBody>
      </p:sp>
      <p:sp>
        <p:nvSpPr>
          <p:cNvPr id="7" name="Text 5"/>
          <p:cNvSpPr/>
          <p:nvPr/>
        </p:nvSpPr>
        <p:spPr>
          <a:xfrm>
            <a:off x="822960" y="2286000"/>
            <a:ext cx="3749040" cy="274320"/>
          </a:xfrm>
          <a:prstGeom prst="rect">
            <a:avLst/>
          </a:prstGeom>
          <a:noFill/>
          <a:ln/>
        </p:spPr>
        <p:txBody>
          <a:bodyPr wrap="square" lIns="0" tIns="0" rIns="0" bIns="0" rtlCol="0" anchor="ctr"/>
          <a:lstStyle/>
          <a:p>
            <a:pPr indent="0" marL="0">
              <a:buNone/>
            </a:pPr>
            <a:r>
              <a:rPr lang="en-US" sz="1100" dirty="0">
                <a:solidFill>
                  <a:srgbClr val="CBD5E1"/>
                </a:solidFill>
                <a:latin typeface="Consolas" pitchFamily="34" charset="0"/>
                <a:ea typeface="Consolas" pitchFamily="34" charset="-122"/>
                <a:cs typeface="Consolas" pitchFamily="34" charset="-120"/>
              </a:rPr>
              <a:t>├── SKILL.md          # name + when to use</a:t>
            </a:r>
            <a:endParaRPr lang="en-US" sz="1100" dirty="0"/>
          </a:p>
        </p:txBody>
      </p:sp>
      <p:sp>
        <p:nvSpPr>
          <p:cNvPr id="8" name="Text 6"/>
          <p:cNvSpPr/>
          <p:nvPr/>
        </p:nvSpPr>
        <p:spPr>
          <a:xfrm>
            <a:off x="822960" y="2560320"/>
            <a:ext cx="3749040" cy="274320"/>
          </a:xfrm>
          <a:prstGeom prst="rect">
            <a:avLst/>
          </a:prstGeom>
          <a:noFill/>
          <a:ln/>
        </p:spPr>
        <p:txBody>
          <a:bodyPr wrap="square" lIns="0" tIns="0" rIns="0" bIns="0" rtlCol="0" anchor="ctr"/>
          <a:lstStyle/>
          <a:p>
            <a:pPr indent="0" marL="0">
              <a:buNone/>
            </a:pPr>
            <a:r>
              <a:rPr lang="en-US" sz="1100" dirty="0">
                <a:solidFill>
                  <a:srgbClr val="CBD5E1"/>
                </a:solidFill>
                <a:latin typeface="Consolas" pitchFamily="34" charset="0"/>
                <a:ea typeface="Consolas" pitchFamily="34" charset="-122"/>
                <a:cs typeface="Consolas" pitchFamily="34" charset="-120"/>
              </a:rPr>
              <a:t>├── references/       # extra context</a:t>
            </a:r>
            <a:endParaRPr lang="en-US" sz="1100" dirty="0"/>
          </a:p>
        </p:txBody>
      </p:sp>
      <p:sp>
        <p:nvSpPr>
          <p:cNvPr id="9" name="Text 7"/>
          <p:cNvSpPr/>
          <p:nvPr/>
        </p:nvSpPr>
        <p:spPr>
          <a:xfrm>
            <a:off x="822960" y="2834640"/>
            <a:ext cx="3749040" cy="274320"/>
          </a:xfrm>
          <a:prstGeom prst="rect">
            <a:avLst/>
          </a:prstGeom>
          <a:noFill/>
          <a:ln/>
        </p:spPr>
        <p:txBody>
          <a:bodyPr wrap="square" lIns="0" tIns="0" rIns="0" bIns="0" rtlCol="0" anchor="ctr"/>
          <a:lstStyle/>
          <a:p>
            <a:pPr indent="0" marL="0">
              <a:buNone/>
            </a:pPr>
            <a:r>
              <a:rPr lang="en-US" sz="1100" dirty="0">
                <a:solidFill>
                  <a:srgbClr val="CBD5E1"/>
                </a:solidFill>
                <a:latin typeface="Consolas" pitchFamily="34" charset="0"/>
                <a:ea typeface="Consolas" pitchFamily="34" charset="-122"/>
                <a:cs typeface="Consolas" pitchFamily="34" charset="-120"/>
              </a:rPr>
              <a:t>│     ├── fixtures.md</a:t>
            </a:r>
            <a:endParaRPr lang="en-US" sz="1100" dirty="0"/>
          </a:p>
        </p:txBody>
      </p:sp>
      <p:sp>
        <p:nvSpPr>
          <p:cNvPr id="10" name="Text 8"/>
          <p:cNvSpPr/>
          <p:nvPr/>
        </p:nvSpPr>
        <p:spPr>
          <a:xfrm>
            <a:off x="822960" y="3108960"/>
            <a:ext cx="3749040" cy="274320"/>
          </a:xfrm>
          <a:prstGeom prst="rect">
            <a:avLst/>
          </a:prstGeom>
          <a:noFill/>
          <a:ln/>
        </p:spPr>
        <p:txBody>
          <a:bodyPr wrap="square" lIns="0" tIns="0" rIns="0" bIns="0" rtlCol="0" anchor="ctr"/>
          <a:lstStyle/>
          <a:p>
            <a:pPr indent="0" marL="0">
              <a:buNone/>
            </a:pPr>
            <a:r>
              <a:rPr lang="en-US" sz="1100" dirty="0">
                <a:solidFill>
                  <a:srgbClr val="CBD5E1"/>
                </a:solidFill>
                <a:latin typeface="Consolas" pitchFamily="34" charset="0"/>
                <a:ea typeface="Consolas" pitchFamily="34" charset="-122"/>
                <a:cs typeface="Consolas" pitchFamily="34" charset="-120"/>
              </a:rPr>
              <a:t>│     └── naming.md</a:t>
            </a:r>
            <a:endParaRPr lang="en-US" sz="1100" dirty="0"/>
          </a:p>
        </p:txBody>
      </p:sp>
      <p:sp>
        <p:nvSpPr>
          <p:cNvPr id="11" name="Text 9"/>
          <p:cNvSpPr/>
          <p:nvPr/>
        </p:nvSpPr>
        <p:spPr>
          <a:xfrm>
            <a:off x="822960" y="3383280"/>
            <a:ext cx="3749040" cy="274320"/>
          </a:xfrm>
          <a:prstGeom prst="rect">
            <a:avLst/>
          </a:prstGeom>
          <a:noFill/>
          <a:ln/>
        </p:spPr>
        <p:txBody>
          <a:bodyPr wrap="square" lIns="0" tIns="0" rIns="0" bIns="0" rtlCol="0" anchor="ctr"/>
          <a:lstStyle/>
          <a:p>
            <a:pPr indent="0" marL="0">
              <a:buNone/>
            </a:pPr>
            <a:r>
              <a:rPr lang="en-US" sz="1100" dirty="0">
                <a:solidFill>
                  <a:srgbClr val="CBD5E1"/>
                </a:solidFill>
                <a:latin typeface="Consolas" pitchFamily="34" charset="0"/>
                <a:ea typeface="Consolas" pitchFamily="34" charset="-122"/>
                <a:cs typeface="Consolas" pitchFamily="34" charset="-120"/>
              </a:rPr>
              <a:t>├── scripts/          # helper code</a:t>
            </a:r>
            <a:endParaRPr lang="en-US" sz="1100" dirty="0"/>
          </a:p>
        </p:txBody>
      </p:sp>
      <p:sp>
        <p:nvSpPr>
          <p:cNvPr id="12" name="Text 10"/>
          <p:cNvSpPr/>
          <p:nvPr/>
        </p:nvSpPr>
        <p:spPr>
          <a:xfrm>
            <a:off x="822960" y="3657600"/>
            <a:ext cx="3749040" cy="274320"/>
          </a:xfrm>
          <a:prstGeom prst="rect">
            <a:avLst/>
          </a:prstGeom>
          <a:noFill/>
          <a:ln/>
        </p:spPr>
        <p:txBody>
          <a:bodyPr wrap="square" lIns="0" tIns="0" rIns="0" bIns="0" rtlCol="0" anchor="ctr"/>
          <a:lstStyle/>
          <a:p>
            <a:pPr indent="0" marL="0">
              <a:buNone/>
            </a:pPr>
            <a:r>
              <a:rPr lang="en-US" sz="1100" dirty="0">
                <a:solidFill>
                  <a:srgbClr val="CBD5E1"/>
                </a:solidFill>
                <a:latin typeface="Consolas" pitchFamily="34" charset="0"/>
                <a:ea typeface="Consolas" pitchFamily="34" charset="-122"/>
                <a:cs typeface="Consolas" pitchFamily="34" charset="-120"/>
              </a:rPr>
              <a:t>│     └── lint_tests.py</a:t>
            </a:r>
            <a:endParaRPr lang="en-US" sz="1100" dirty="0"/>
          </a:p>
        </p:txBody>
      </p:sp>
      <p:sp>
        <p:nvSpPr>
          <p:cNvPr id="13" name="Text 11"/>
          <p:cNvSpPr/>
          <p:nvPr/>
        </p:nvSpPr>
        <p:spPr>
          <a:xfrm>
            <a:off x="822960" y="3931920"/>
            <a:ext cx="3749040" cy="274320"/>
          </a:xfrm>
          <a:prstGeom prst="rect">
            <a:avLst/>
          </a:prstGeom>
          <a:noFill/>
          <a:ln/>
        </p:spPr>
        <p:txBody>
          <a:bodyPr wrap="square" lIns="0" tIns="0" rIns="0" bIns="0" rtlCol="0" anchor="ctr"/>
          <a:lstStyle/>
          <a:p>
            <a:pPr indent="0" marL="0">
              <a:buNone/>
            </a:pPr>
            <a:r>
              <a:rPr lang="en-US" sz="1100" dirty="0">
                <a:solidFill>
                  <a:srgbClr val="CBD5E1"/>
                </a:solidFill>
                <a:latin typeface="Consolas" pitchFamily="34" charset="0"/>
                <a:ea typeface="Consolas" pitchFamily="34" charset="-122"/>
                <a:cs typeface="Consolas" pitchFamily="34" charset="-120"/>
              </a:rPr>
              <a:t>└── templates/        # starter files</a:t>
            </a:r>
            <a:endParaRPr lang="en-US" sz="1100" dirty="0"/>
          </a:p>
        </p:txBody>
      </p:sp>
      <p:sp>
        <p:nvSpPr>
          <p:cNvPr id="14" name="Shape 12"/>
          <p:cNvSpPr/>
          <p:nvPr/>
        </p:nvSpPr>
        <p:spPr>
          <a:xfrm>
            <a:off x="4846320" y="1691640"/>
            <a:ext cx="3840480" cy="2743200"/>
          </a:xfrm>
          <a:prstGeom prst="rect">
            <a:avLst/>
          </a:prstGeom>
          <a:solidFill>
            <a:srgbClr val="F4EDE4"/>
          </a:solidFill>
          <a:ln w="12700">
            <a:solidFill>
              <a:srgbClr val="F4EDE4"/>
            </a:solidFill>
            <a:prstDash val="solid"/>
          </a:ln>
        </p:spPr>
      </p:sp>
      <p:sp>
        <p:nvSpPr>
          <p:cNvPr id="15" name="Shape 13"/>
          <p:cNvSpPr/>
          <p:nvPr/>
        </p:nvSpPr>
        <p:spPr>
          <a:xfrm>
            <a:off x="4846320" y="1691640"/>
            <a:ext cx="73152" cy="2743200"/>
          </a:xfrm>
          <a:prstGeom prst="rect">
            <a:avLst/>
          </a:prstGeom>
          <a:solidFill>
            <a:srgbClr val="FF6B47"/>
          </a:solidFill>
          <a:ln w="12700">
            <a:solidFill>
              <a:srgbClr val="FF6B47"/>
            </a:solidFill>
            <a:prstDash val="solid"/>
          </a:ln>
        </p:spPr>
      </p:sp>
      <p:sp>
        <p:nvSpPr>
          <p:cNvPr id="16" name="Text 14"/>
          <p:cNvSpPr/>
          <p:nvPr/>
        </p:nvSpPr>
        <p:spPr>
          <a:xfrm>
            <a:off x="5120640" y="1874520"/>
            <a:ext cx="3474720" cy="274320"/>
          </a:xfrm>
          <a:prstGeom prst="rect">
            <a:avLst/>
          </a:prstGeom>
          <a:noFill/>
          <a:ln/>
        </p:spPr>
        <p:txBody>
          <a:bodyPr wrap="square" lIns="0" tIns="0" rIns="0" bIns="0" rtlCol="0" anchor="ctr"/>
          <a:lstStyle/>
          <a:p>
            <a:pPr indent="0" marL="0">
              <a:buNone/>
            </a:pPr>
            <a:r>
              <a:rPr lang="en-US" sz="900" b="1" spc="400" kern="0" dirty="0">
                <a:solidFill>
                  <a:srgbClr val="64748B"/>
                </a:solidFill>
                <a:latin typeface="Calibri" pitchFamily="34" charset="0"/>
                <a:ea typeface="Calibri" pitchFamily="34" charset="-122"/>
                <a:cs typeface="Calibri" pitchFamily="34" charset="-120"/>
              </a:rPr>
              <a:t>THE ONLY REQUIRED FILE</a:t>
            </a:r>
            <a:endParaRPr lang="en-US" sz="900" dirty="0"/>
          </a:p>
        </p:txBody>
      </p:sp>
      <p:sp>
        <p:nvSpPr>
          <p:cNvPr id="17" name="Text 15"/>
          <p:cNvSpPr/>
          <p:nvPr/>
        </p:nvSpPr>
        <p:spPr>
          <a:xfrm>
            <a:off x="5120640" y="2148840"/>
            <a:ext cx="3474720" cy="365760"/>
          </a:xfrm>
          <a:prstGeom prst="rect">
            <a:avLst/>
          </a:prstGeom>
          <a:noFill/>
          <a:ln/>
        </p:spPr>
        <p:txBody>
          <a:bodyPr wrap="square" lIns="0" tIns="0" rIns="0" bIns="0" rtlCol="0" anchor="ctr"/>
          <a:lstStyle/>
          <a:p>
            <a:pPr indent="0" marL="0">
              <a:buNone/>
            </a:pPr>
            <a:r>
              <a:rPr lang="en-US" sz="2200" b="1" dirty="0">
                <a:solidFill>
                  <a:srgbClr val="1A1A2E"/>
                </a:solidFill>
                <a:latin typeface="Consolas" pitchFamily="34" charset="0"/>
                <a:ea typeface="Consolas" pitchFamily="34" charset="-122"/>
                <a:cs typeface="Consolas" pitchFamily="34" charset="-120"/>
              </a:rPr>
              <a:t>SKILL.md</a:t>
            </a:r>
            <a:endParaRPr lang="en-US" sz="2200" dirty="0"/>
          </a:p>
        </p:txBody>
      </p:sp>
      <p:sp>
        <p:nvSpPr>
          <p:cNvPr id="18" name="Text 16"/>
          <p:cNvSpPr/>
          <p:nvPr/>
        </p:nvSpPr>
        <p:spPr>
          <a:xfrm>
            <a:off x="5120640" y="2606040"/>
            <a:ext cx="3474720" cy="73152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A markdown file with two pieces of frontmatter — name and description — followed by instructions in plain English.</a:t>
            </a:r>
            <a:endParaRPr lang="en-US" sz="1200" dirty="0"/>
          </a:p>
        </p:txBody>
      </p:sp>
      <p:sp>
        <p:nvSpPr>
          <p:cNvPr id="19" name="Shape 17"/>
          <p:cNvSpPr/>
          <p:nvPr/>
        </p:nvSpPr>
        <p:spPr>
          <a:xfrm>
            <a:off x="5120640" y="3474720"/>
            <a:ext cx="3291840" cy="822960"/>
          </a:xfrm>
          <a:prstGeom prst="rect">
            <a:avLst/>
          </a:prstGeom>
          <a:solidFill>
            <a:srgbClr val="FFFFFF"/>
          </a:solidFill>
          <a:ln w="12700">
            <a:solidFill>
              <a:srgbClr val="E2E8F0"/>
            </a:solidFill>
            <a:prstDash val="solid"/>
          </a:ln>
        </p:spPr>
      </p:sp>
      <p:sp>
        <p:nvSpPr>
          <p:cNvPr id="20" name="Text 18"/>
          <p:cNvSpPr/>
          <p:nvPr/>
        </p:nvSpPr>
        <p:spPr>
          <a:xfrm>
            <a:off x="5212080" y="3520440"/>
            <a:ext cx="3200400" cy="731520"/>
          </a:xfrm>
          <a:prstGeom prst="rect">
            <a:avLst/>
          </a:prstGeom>
          <a:noFill/>
          <a:ln/>
        </p:spPr>
        <p:txBody>
          <a:bodyPr wrap="square" lIns="0" tIns="0" rIns="0" bIns="0" rtlCol="0" anchor="t"/>
          <a:lstStyle/>
          <a:p>
            <a:pPr indent="0" marL="0">
              <a:buNone/>
            </a:pPr>
            <a:r>
              <a:rPr lang="en-US" sz="1000" dirty="0">
                <a:solidFill>
                  <a:srgbClr val="64748B"/>
                </a:solidFill>
                <a:latin typeface="Consolas" pitchFamily="34" charset="0"/>
                <a:ea typeface="Consolas" pitchFamily="34" charset="-122"/>
                <a:cs typeface="Consolas" pitchFamily="34" charset="-120"/>
              </a:rPr>
              <a:t>---
</a:t>
            </a:r>
            <a:pPr indent="0" marL="0">
              <a:buNone/>
            </a:pPr>
            <a:r>
              <a:rPr lang="en-US" sz="1000" b="1" dirty="0">
                <a:solidFill>
                  <a:srgbClr val="FF6B47"/>
                </a:solidFill>
                <a:latin typeface="Consolas" pitchFamily="34" charset="0"/>
                <a:ea typeface="Consolas" pitchFamily="34" charset="-122"/>
                <a:cs typeface="Consolas" pitchFamily="34" charset="-120"/>
              </a:rPr>
              <a:t>name: </a:t>
            </a:r>
            <a:pPr indent="0" marL="0">
              <a:buNone/>
            </a:pPr>
            <a:r>
              <a:rPr lang="en-US" sz="1000" dirty="0">
                <a:solidFill>
                  <a:srgbClr val="1A1A2E"/>
                </a:solidFill>
                <a:latin typeface="Consolas" pitchFamily="34" charset="0"/>
                <a:ea typeface="Consolas" pitchFamily="34" charset="-122"/>
                <a:cs typeface="Consolas" pitchFamily="34" charset="-120"/>
              </a:rPr>
              <a:t>test-writing
</a:t>
            </a:r>
            <a:pPr indent="0" marL="0">
              <a:buNone/>
            </a:pPr>
            <a:r>
              <a:rPr lang="en-US" sz="1000" b="1" dirty="0">
                <a:solidFill>
                  <a:srgbClr val="FF6B47"/>
                </a:solidFill>
                <a:latin typeface="Consolas" pitchFamily="34" charset="0"/>
                <a:ea typeface="Consolas" pitchFamily="34" charset="-122"/>
                <a:cs typeface="Consolas" pitchFamily="34" charset="-120"/>
              </a:rPr>
              <a:t>description: </a:t>
            </a:r>
            <a:pPr indent="0" marL="0">
              <a:buNone/>
            </a:pPr>
            <a:r>
              <a:rPr lang="en-US" sz="1000" dirty="0">
                <a:solidFill>
                  <a:srgbClr val="1A1A2E"/>
                </a:solidFill>
                <a:latin typeface="Consolas" pitchFamily="34" charset="0"/>
                <a:ea typeface="Consolas" pitchFamily="34" charset="-122"/>
                <a:cs typeface="Consolas" pitchFamily="34" charset="-120"/>
              </a:rPr>
              <a:t>Use when…</a:t>
            </a:r>
            <a:pPr indent="0" marL="0">
              <a:buNone/>
            </a:pPr>
            <a:endParaRPr lang="en-US" sz="1000" dirty="0"/>
          </a:p>
          <a:p>
            <a:pPr indent="0" marL="0">
              <a:buNone/>
            </a:pPr>
            <a:r>
              <a:rPr lang="en-US" sz="1000" dirty="0">
                <a:solidFill>
                  <a:srgbClr val="64748B"/>
                </a:solidFill>
                <a:latin typeface="Consolas" pitchFamily="34" charset="0"/>
                <a:ea typeface="Consolas" pitchFamily="34" charset="-122"/>
                <a:cs typeface="Consolas" pitchFamily="34" charset="-120"/>
              </a:rPr>
              <a:t>---</a:t>
            </a:r>
            <a:endParaRPr lang="en-US" sz="1000" dirty="0"/>
          </a:p>
        </p:txBody>
      </p:sp>
      <p:sp>
        <p:nvSpPr>
          <p:cNvPr id="21" name="Text 19"/>
          <p:cNvSpPr/>
          <p:nvPr/>
        </p:nvSpPr>
        <p:spPr>
          <a:xfrm>
            <a:off x="457200" y="4800600"/>
            <a:ext cx="1371600" cy="228600"/>
          </a:xfrm>
          <a:prstGeom prst="rect">
            <a:avLst/>
          </a:prstGeom>
          <a:noFill/>
          <a:ln/>
        </p:spPr>
        <p:txBody>
          <a:bodyPr wrap="square" rtlCol="0" anchor="ctr"/>
          <a:lstStyle/>
          <a:p>
            <a:pPr indent="0" marL="0">
              <a:buNone/>
            </a:pPr>
            <a:r>
              <a:rPr lang="en-US" sz="900" spc="200" kern="0" dirty="0">
                <a:solidFill>
                  <a:srgbClr val="64748B"/>
                </a:solidFill>
                <a:latin typeface="Calibri" pitchFamily="34" charset="0"/>
                <a:ea typeface="Calibri" pitchFamily="34" charset="-122"/>
                <a:cs typeface="Calibri" pitchFamily="34" charset="-120"/>
              </a:rPr>
              <a:t>04 / 07</a:t>
            </a:r>
            <a:endParaRPr lang="en-US" sz="900" dirty="0"/>
          </a:p>
        </p:txBody>
      </p:sp>
      <p:sp>
        <p:nvSpPr>
          <p:cNvPr id="22" name="Text 20"/>
          <p:cNvSpPr/>
          <p:nvPr/>
        </p:nvSpPr>
        <p:spPr>
          <a:xfrm>
            <a:off x="7315200" y="4800600"/>
            <a:ext cx="1371600" cy="228600"/>
          </a:xfrm>
          <a:prstGeom prst="rect">
            <a:avLst/>
          </a:prstGeom>
          <a:noFill/>
          <a:ln/>
        </p:spPr>
        <p:txBody>
          <a:bodyPr wrap="square" rtlCol="0" anchor="ctr"/>
          <a:lstStyle/>
          <a:p>
            <a:pPr algn="r" indent="0" marL="0">
              <a:buNone/>
            </a:pPr>
            <a:r>
              <a:rPr lang="en-US" sz="900" b="1" spc="300" kern="0" dirty="0">
                <a:solidFill>
                  <a:srgbClr val="64748B"/>
                </a:solidFill>
                <a:latin typeface="Calibri" pitchFamily="34" charset="0"/>
                <a:ea typeface="Calibri" pitchFamily="34" charset="-122"/>
                <a:cs typeface="Calibri" pitchFamily="34" charset="-120"/>
              </a:rPr>
              <a:t>AGENT SKILLS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732520" y="320040"/>
            <a:ext cx="109728" cy="109728"/>
          </a:xfrm>
          <a:prstGeom prst="rect">
            <a:avLst/>
          </a:prstGeom>
          <a:solidFill>
            <a:srgbClr val="FF6B47"/>
          </a:solidFill>
          <a:ln w="12700">
            <a:solidFill>
              <a:srgbClr val="FF6B47"/>
            </a:solidFill>
            <a:prstDash val="solid"/>
          </a:ln>
        </p:spPr>
      </p:sp>
      <p:sp>
        <p:nvSpPr>
          <p:cNvPr id="3" name="Text 1"/>
          <p:cNvSpPr/>
          <p:nvPr/>
        </p:nvSpPr>
        <p:spPr>
          <a:xfrm>
            <a:off x="548640" y="411480"/>
            <a:ext cx="3657600" cy="274320"/>
          </a:xfrm>
          <a:prstGeom prst="rect">
            <a:avLst/>
          </a:prstGeom>
          <a:noFill/>
          <a:ln/>
        </p:spPr>
        <p:txBody>
          <a:bodyPr wrap="square" lIns="0" tIns="0" rIns="0" bIns="0" rtlCol="0" anchor="ctr"/>
          <a:lstStyle/>
          <a:p>
            <a:pPr indent="0" marL="0">
              <a:buNone/>
            </a:pPr>
            <a:r>
              <a:rPr lang="en-US" sz="1000" b="1" spc="500" kern="0" dirty="0">
                <a:solidFill>
                  <a:srgbClr val="FF6B47"/>
                </a:solidFill>
                <a:latin typeface="Calibri" pitchFamily="34" charset="0"/>
                <a:ea typeface="Calibri" pitchFamily="34" charset="-122"/>
                <a:cs typeface="Calibri" pitchFamily="34" charset="-120"/>
              </a:rPr>
              <a:t>04  ·  MECHANICS</a:t>
            </a:r>
            <a:endParaRPr lang="en-US" sz="1000" dirty="0"/>
          </a:p>
        </p:txBody>
      </p:sp>
      <p:sp>
        <p:nvSpPr>
          <p:cNvPr id="4" name="Text 2"/>
          <p:cNvSpPr/>
          <p:nvPr/>
        </p:nvSpPr>
        <p:spPr>
          <a:xfrm>
            <a:off x="548640" y="777240"/>
            <a:ext cx="8229600" cy="640080"/>
          </a:xfrm>
          <a:prstGeom prst="rect">
            <a:avLst/>
          </a:prstGeom>
          <a:noFill/>
          <a:ln/>
        </p:spPr>
        <p:txBody>
          <a:bodyPr wrap="square" lIns="0" tIns="0" rIns="0" bIns="0" rtlCol="0" anchor="ctr"/>
          <a:lstStyle/>
          <a:p>
            <a:pPr indent="0" marL="0">
              <a:buNone/>
            </a:pPr>
            <a:r>
              <a:rPr lang="en-US" sz="3800" b="1" dirty="0">
                <a:solidFill>
                  <a:srgbClr val="1A1A2E"/>
                </a:solidFill>
                <a:latin typeface="Georgia" pitchFamily="34" charset="0"/>
                <a:ea typeface="Georgia" pitchFamily="34" charset="-122"/>
                <a:cs typeface="Georgia" pitchFamily="34" charset="-120"/>
              </a:rPr>
              <a:t>How they actually work</a:t>
            </a:r>
            <a:endParaRPr lang="en-US" sz="3800" dirty="0"/>
          </a:p>
        </p:txBody>
      </p:sp>
      <p:sp>
        <p:nvSpPr>
          <p:cNvPr id="5" name="Text 3"/>
          <p:cNvSpPr/>
          <p:nvPr/>
        </p:nvSpPr>
        <p:spPr>
          <a:xfrm>
            <a:off x="548640" y="1508760"/>
            <a:ext cx="8229600" cy="36576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Progressive disclosure — the agent only loads what it needs.</a:t>
            </a:r>
            <a:endParaRPr lang="en-US" sz="1500" dirty="0"/>
          </a:p>
        </p:txBody>
      </p:sp>
      <p:sp>
        <p:nvSpPr>
          <p:cNvPr id="6" name="Shape 4"/>
          <p:cNvSpPr/>
          <p:nvPr/>
        </p:nvSpPr>
        <p:spPr>
          <a:xfrm>
            <a:off x="548640" y="2057400"/>
            <a:ext cx="2560320" cy="2377440"/>
          </a:xfrm>
          <a:prstGeom prst="rect">
            <a:avLst/>
          </a:prstGeom>
          <a:solidFill>
            <a:srgbClr val="F4EDE4"/>
          </a:solidFill>
          <a:ln w="12700">
            <a:solidFill>
              <a:srgbClr val="F4EDE4"/>
            </a:solidFill>
            <a:prstDash val="solid"/>
          </a:ln>
          <a:effectLst>
            <a:outerShdw sx="100000" sy="100000" kx="0" ky="0" algn="bl" rotWithShape="0" blurRad="152400" dist="38100" dir="5400000">
              <a:srgbClr val="000000">
                <a:alpha val="8000"/>
              </a:srgbClr>
            </a:outerShdw>
          </a:effectLst>
        </p:spPr>
      </p:sp>
      <p:sp>
        <p:nvSpPr>
          <p:cNvPr id="7" name="Text 5"/>
          <p:cNvSpPr/>
          <p:nvPr/>
        </p:nvSpPr>
        <p:spPr>
          <a:xfrm>
            <a:off x="822960" y="2240280"/>
            <a:ext cx="914400" cy="1005840"/>
          </a:xfrm>
          <a:prstGeom prst="rect">
            <a:avLst/>
          </a:prstGeom>
          <a:noFill/>
          <a:ln/>
        </p:spPr>
        <p:txBody>
          <a:bodyPr wrap="square" lIns="0" tIns="0" rIns="0" bIns="0" rtlCol="0" anchor="ctr"/>
          <a:lstStyle/>
          <a:p>
            <a:pPr indent="0" marL="0">
              <a:buNone/>
            </a:pPr>
            <a:r>
              <a:rPr lang="en-US" sz="6400" b="1" i="1" dirty="0">
                <a:solidFill>
                  <a:srgbClr val="FF6B47"/>
                </a:solidFill>
                <a:latin typeface="Georgia" pitchFamily="34" charset="0"/>
                <a:ea typeface="Georgia" pitchFamily="34" charset="-122"/>
                <a:cs typeface="Georgia" pitchFamily="34" charset="-120"/>
              </a:rPr>
              <a:t>1</a:t>
            </a:r>
            <a:endParaRPr lang="en-US" sz="6400" dirty="0"/>
          </a:p>
        </p:txBody>
      </p:sp>
      <p:sp>
        <p:nvSpPr>
          <p:cNvPr id="8" name="Text 6"/>
          <p:cNvSpPr/>
          <p:nvPr/>
        </p:nvSpPr>
        <p:spPr>
          <a:xfrm>
            <a:off x="822960" y="3291840"/>
            <a:ext cx="2103120" cy="365760"/>
          </a:xfrm>
          <a:prstGeom prst="rect">
            <a:avLst/>
          </a:prstGeom>
          <a:noFill/>
          <a:ln/>
        </p:spPr>
        <p:txBody>
          <a:bodyPr wrap="square" lIns="0" tIns="0" rIns="0" bIns="0" rtlCol="0" anchor="ctr"/>
          <a:lstStyle/>
          <a:p>
            <a:pPr indent="0" marL="0">
              <a:buNone/>
            </a:pPr>
            <a:r>
              <a:rPr lang="en-US" sz="2000" b="1" dirty="0">
                <a:solidFill>
                  <a:srgbClr val="1A1A2E"/>
                </a:solidFill>
                <a:latin typeface="Georgia" pitchFamily="34" charset="0"/>
                <a:ea typeface="Georgia" pitchFamily="34" charset="-122"/>
                <a:cs typeface="Georgia" pitchFamily="34" charset="-120"/>
              </a:rPr>
              <a:t>Scan</a:t>
            </a:r>
            <a:endParaRPr lang="en-US" sz="2000" dirty="0"/>
          </a:p>
        </p:txBody>
      </p:sp>
      <p:sp>
        <p:nvSpPr>
          <p:cNvPr id="9" name="Text 7"/>
          <p:cNvSpPr/>
          <p:nvPr/>
        </p:nvSpPr>
        <p:spPr>
          <a:xfrm>
            <a:off x="822960" y="3703320"/>
            <a:ext cx="2103120" cy="640080"/>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On startup, the agent reads the name + description of every installed Skill — a table of contents.</a:t>
            </a:r>
            <a:endParaRPr lang="en-US" sz="1150" dirty="0"/>
          </a:p>
        </p:txBody>
      </p:sp>
      <p:sp>
        <p:nvSpPr>
          <p:cNvPr id="10" name="Shape 8"/>
          <p:cNvSpPr/>
          <p:nvPr/>
        </p:nvSpPr>
        <p:spPr>
          <a:xfrm>
            <a:off x="3291840" y="2057400"/>
            <a:ext cx="2560320" cy="2377440"/>
          </a:xfrm>
          <a:prstGeom prst="rect">
            <a:avLst/>
          </a:prstGeom>
          <a:solidFill>
            <a:srgbClr val="F4EDE4"/>
          </a:solidFill>
          <a:ln w="12700">
            <a:solidFill>
              <a:srgbClr val="F4EDE4"/>
            </a:solidFill>
            <a:prstDash val="solid"/>
          </a:ln>
          <a:effectLst>
            <a:outerShdw sx="100000" sy="100000" kx="0" ky="0" algn="bl" rotWithShape="0" blurRad="152400" dist="38100" dir="5400000">
              <a:srgbClr val="000000">
                <a:alpha val="8000"/>
              </a:srgbClr>
            </a:outerShdw>
          </a:effectLst>
        </p:spPr>
      </p:sp>
      <p:sp>
        <p:nvSpPr>
          <p:cNvPr id="11" name="Text 9"/>
          <p:cNvSpPr/>
          <p:nvPr/>
        </p:nvSpPr>
        <p:spPr>
          <a:xfrm>
            <a:off x="3566160" y="2240280"/>
            <a:ext cx="914400" cy="1005840"/>
          </a:xfrm>
          <a:prstGeom prst="rect">
            <a:avLst/>
          </a:prstGeom>
          <a:noFill/>
          <a:ln/>
        </p:spPr>
        <p:txBody>
          <a:bodyPr wrap="square" lIns="0" tIns="0" rIns="0" bIns="0" rtlCol="0" anchor="ctr"/>
          <a:lstStyle/>
          <a:p>
            <a:pPr indent="0" marL="0">
              <a:buNone/>
            </a:pPr>
            <a:r>
              <a:rPr lang="en-US" sz="6400" b="1" i="1" dirty="0">
                <a:solidFill>
                  <a:srgbClr val="FF6B47"/>
                </a:solidFill>
                <a:latin typeface="Georgia" pitchFamily="34" charset="0"/>
                <a:ea typeface="Georgia" pitchFamily="34" charset="-122"/>
                <a:cs typeface="Georgia" pitchFamily="34" charset="-120"/>
              </a:rPr>
              <a:t>2</a:t>
            </a:r>
            <a:endParaRPr lang="en-US" sz="6400" dirty="0"/>
          </a:p>
        </p:txBody>
      </p:sp>
      <p:sp>
        <p:nvSpPr>
          <p:cNvPr id="12" name="Text 10"/>
          <p:cNvSpPr/>
          <p:nvPr/>
        </p:nvSpPr>
        <p:spPr>
          <a:xfrm>
            <a:off x="3566160" y="3291840"/>
            <a:ext cx="2103120" cy="365760"/>
          </a:xfrm>
          <a:prstGeom prst="rect">
            <a:avLst/>
          </a:prstGeom>
          <a:noFill/>
          <a:ln/>
        </p:spPr>
        <p:txBody>
          <a:bodyPr wrap="square" lIns="0" tIns="0" rIns="0" bIns="0" rtlCol="0" anchor="ctr"/>
          <a:lstStyle/>
          <a:p>
            <a:pPr indent="0" marL="0">
              <a:buNone/>
            </a:pPr>
            <a:r>
              <a:rPr lang="en-US" sz="2000" b="1" dirty="0">
                <a:solidFill>
                  <a:srgbClr val="1A1A2E"/>
                </a:solidFill>
                <a:latin typeface="Georgia" pitchFamily="34" charset="0"/>
                <a:ea typeface="Georgia" pitchFamily="34" charset="-122"/>
                <a:cs typeface="Georgia" pitchFamily="34" charset="-120"/>
              </a:rPr>
              <a:t>Match</a:t>
            </a:r>
            <a:endParaRPr lang="en-US" sz="2000" dirty="0"/>
          </a:p>
        </p:txBody>
      </p:sp>
      <p:sp>
        <p:nvSpPr>
          <p:cNvPr id="13" name="Text 11"/>
          <p:cNvSpPr/>
          <p:nvPr/>
        </p:nvSpPr>
        <p:spPr>
          <a:xfrm>
            <a:off x="3566160" y="3703320"/>
            <a:ext cx="2103120" cy="640080"/>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When you ask for something, the agent matches your request against those descriptions.</a:t>
            </a:r>
            <a:endParaRPr lang="en-US" sz="1150" dirty="0"/>
          </a:p>
        </p:txBody>
      </p:sp>
      <p:sp>
        <p:nvSpPr>
          <p:cNvPr id="14" name="Shape 12"/>
          <p:cNvSpPr/>
          <p:nvPr/>
        </p:nvSpPr>
        <p:spPr>
          <a:xfrm>
            <a:off x="6035040" y="2057400"/>
            <a:ext cx="2560320" cy="2377440"/>
          </a:xfrm>
          <a:prstGeom prst="rect">
            <a:avLst/>
          </a:prstGeom>
          <a:solidFill>
            <a:srgbClr val="F4EDE4"/>
          </a:solidFill>
          <a:ln w="12700">
            <a:solidFill>
              <a:srgbClr val="F4EDE4"/>
            </a:solidFill>
            <a:prstDash val="solid"/>
          </a:ln>
          <a:effectLst>
            <a:outerShdw sx="100000" sy="100000" kx="0" ky="0" algn="bl" rotWithShape="0" blurRad="152400" dist="38100" dir="5400000">
              <a:srgbClr val="000000">
                <a:alpha val="8000"/>
              </a:srgbClr>
            </a:outerShdw>
          </a:effectLst>
        </p:spPr>
      </p:sp>
      <p:sp>
        <p:nvSpPr>
          <p:cNvPr id="15" name="Text 13"/>
          <p:cNvSpPr/>
          <p:nvPr/>
        </p:nvSpPr>
        <p:spPr>
          <a:xfrm>
            <a:off x="6309360" y="2240280"/>
            <a:ext cx="914400" cy="1005840"/>
          </a:xfrm>
          <a:prstGeom prst="rect">
            <a:avLst/>
          </a:prstGeom>
          <a:noFill/>
          <a:ln/>
        </p:spPr>
        <p:txBody>
          <a:bodyPr wrap="square" lIns="0" tIns="0" rIns="0" bIns="0" rtlCol="0" anchor="ctr"/>
          <a:lstStyle/>
          <a:p>
            <a:pPr indent="0" marL="0">
              <a:buNone/>
            </a:pPr>
            <a:r>
              <a:rPr lang="en-US" sz="6400" b="1" i="1" dirty="0">
                <a:solidFill>
                  <a:srgbClr val="FF6B47"/>
                </a:solidFill>
                <a:latin typeface="Georgia" pitchFamily="34" charset="0"/>
                <a:ea typeface="Georgia" pitchFamily="34" charset="-122"/>
                <a:cs typeface="Georgia" pitchFamily="34" charset="-120"/>
              </a:rPr>
              <a:t>3</a:t>
            </a:r>
            <a:endParaRPr lang="en-US" sz="6400" dirty="0"/>
          </a:p>
        </p:txBody>
      </p:sp>
      <p:sp>
        <p:nvSpPr>
          <p:cNvPr id="16" name="Text 14"/>
          <p:cNvSpPr/>
          <p:nvPr/>
        </p:nvSpPr>
        <p:spPr>
          <a:xfrm>
            <a:off x="6309360" y="3291840"/>
            <a:ext cx="2103120" cy="365760"/>
          </a:xfrm>
          <a:prstGeom prst="rect">
            <a:avLst/>
          </a:prstGeom>
          <a:noFill/>
          <a:ln/>
        </p:spPr>
        <p:txBody>
          <a:bodyPr wrap="square" lIns="0" tIns="0" rIns="0" bIns="0" rtlCol="0" anchor="ctr"/>
          <a:lstStyle/>
          <a:p>
            <a:pPr indent="0" marL="0">
              <a:buNone/>
            </a:pPr>
            <a:r>
              <a:rPr lang="en-US" sz="2000" b="1" dirty="0">
                <a:solidFill>
                  <a:srgbClr val="1A1A2E"/>
                </a:solidFill>
                <a:latin typeface="Georgia" pitchFamily="34" charset="0"/>
                <a:ea typeface="Georgia" pitchFamily="34" charset="-122"/>
                <a:cs typeface="Georgia" pitchFamily="34" charset="-120"/>
              </a:rPr>
              <a:t>Load</a:t>
            </a:r>
            <a:endParaRPr lang="en-US" sz="2000" dirty="0"/>
          </a:p>
        </p:txBody>
      </p:sp>
      <p:sp>
        <p:nvSpPr>
          <p:cNvPr id="17" name="Text 15"/>
          <p:cNvSpPr/>
          <p:nvPr/>
        </p:nvSpPr>
        <p:spPr>
          <a:xfrm>
            <a:off x="6309360" y="3703320"/>
            <a:ext cx="2103120" cy="640080"/>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It opens just the relevant SKILL.md — and only pulls in deeper files if the task needs them.</a:t>
            </a:r>
            <a:endParaRPr lang="en-US" sz="1150" dirty="0"/>
          </a:p>
        </p:txBody>
      </p:sp>
      <p:sp>
        <p:nvSpPr>
          <p:cNvPr id="18" name="Text 16"/>
          <p:cNvSpPr/>
          <p:nvPr/>
        </p:nvSpPr>
        <p:spPr>
          <a:xfrm>
            <a:off x="457200" y="4800600"/>
            <a:ext cx="1371600" cy="228600"/>
          </a:xfrm>
          <a:prstGeom prst="rect">
            <a:avLst/>
          </a:prstGeom>
          <a:noFill/>
          <a:ln/>
        </p:spPr>
        <p:txBody>
          <a:bodyPr wrap="square" rtlCol="0" anchor="ctr"/>
          <a:lstStyle/>
          <a:p>
            <a:pPr indent="0" marL="0">
              <a:buNone/>
            </a:pPr>
            <a:r>
              <a:rPr lang="en-US" sz="900" spc="200" kern="0" dirty="0">
                <a:solidFill>
                  <a:srgbClr val="64748B"/>
                </a:solidFill>
                <a:latin typeface="Calibri" pitchFamily="34" charset="0"/>
                <a:ea typeface="Calibri" pitchFamily="34" charset="-122"/>
                <a:cs typeface="Calibri" pitchFamily="34" charset="-120"/>
              </a:rPr>
              <a:t>05 / 07</a:t>
            </a:r>
            <a:endParaRPr lang="en-US" sz="900" dirty="0"/>
          </a:p>
        </p:txBody>
      </p:sp>
      <p:sp>
        <p:nvSpPr>
          <p:cNvPr id="19" name="Text 17"/>
          <p:cNvSpPr/>
          <p:nvPr/>
        </p:nvSpPr>
        <p:spPr>
          <a:xfrm>
            <a:off x="7315200" y="4800600"/>
            <a:ext cx="1371600" cy="228600"/>
          </a:xfrm>
          <a:prstGeom prst="rect">
            <a:avLst/>
          </a:prstGeom>
          <a:noFill/>
          <a:ln/>
        </p:spPr>
        <p:txBody>
          <a:bodyPr wrap="square" rtlCol="0" anchor="ctr"/>
          <a:lstStyle/>
          <a:p>
            <a:pPr algn="r" indent="0" marL="0">
              <a:buNone/>
            </a:pPr>
            <a:r>
              <a:rPr lang="en-US" sz="900" b="1" spc="300" kern="0" dirty="0">
                <a:solidFill>
                  <a:srgbClr val="64748B"/>
                </a:solidFill>
                <a:latin typeface="Calibri" pitchFamily="34" charset="0"/>
                <a:ea typeface="Calibri" pitchFamily="34" charset="-122"/>
                <a:cs typeface="Calibri" pitchFamily="34" charset="-120"/>
              </a:rPr>
              <a:t>AGENT SKILLS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732520" y="320040"/>
            <a:ext cx="109728" cy="109728"/>
          </a:xfrm>
          <a:prstGeom prst="rect">
            <a:avLst/>
          </a:prstGeom>
          <a:solidFill>
            <a:srgbClr val="FF6B47"/>
          </a:solidFill>
          <a:ln w="12700">
            <a:solidFill>
              <a:srgbClr val="FF6B47"/>
            </a:solidFill>
            <a:prstDash val="solid"/>
          </a:ln>
        </p:spPr>
      </p:sp>
      <p:sp>
        <p:nvSpPr>
          <p:cNvPr id="3" name="Text 1"/>
          <p:cNvSpPr/>
          <p:nvPr/>
        </p:nvSpPr>
        <p:spPr>
          <a:xfrm>
            <a:off x="548640" y="411480"/>
            <a:ext cx="3657600" cy="274320"/>
          </a:xfrm>
          <a:prstGeom prst="rect">
            <a:avLst/>
          </a:prstGeom>
          <a:noFill/>
          <a:ln/>
        </p:spPr>
        <p:txBody>
          <a:bodyPr wrap="square" lIns="0" tIns="0" rIns="0" bIns="0" rtlCol="0" anchor="ctr"/>
          <a:lstStyle/>
          <a:p>
            <a:pPr indent="0" marL="0">
              <a:buNone/>
            </a:pPr>
            <a:r>
              <a:rPr lang="en-US" sz="1000" b="1" spc="500" kern="0" dirty="0">
                <a:solidFill>
                  <a:srgbClr val="FF6B47"/>
                </a:solidFill>
                <a:latin typeface="Calibri" pitchFamily="34" charset="0"/>
                <a:ea typeface="Calibri" pitchFamily="34" charset="-122"/>
                <a:cs typeface="Calibri" pitchFamily="34" charset="-120"/>
              </a:rPr>
              <a:t>05  ·  THE CASE</a:t>
            </a:r>
            <a:endParaRPr lang="en-US" sz="1000" dirty="0"/>
          </a:p>
        </p:txBody>
      </p:sp>
      <p:sp>
        <p:nvSpPr>
          <p:cNvPr id="4" name="Text 2"/>
          <p:cNvSpPr/>
          <p:nvPr/>
        </p:nvSpPr>
        <p:spPr>
          <a:xfrm>
            <a:off x="548640" y="777240"/>
            <a:ext cx="8229600" cy="640080"/>
          </a:xfrm>
          <a:prstGeom prst="rect">
            <a:avLst/>
          </a:prstGeom>
          <a:noFill/>
          <a:ln/>
        </p:spPr>
        <p:txBody>
          <a:bodyPr wrap="square" lIns="0" tIns="0" rIns="0" bIns="0" rtlCol="0" anchor="ctr"/>
          <a:lstStyle/>
          <a:p>
            <a:pPr indent="0" marL="0">
              <a:buNone/>
            </a:pPr>
            <a:r>
              <a:rPr lang="en-US" sz="3800" b="1" dirty="0">
                <a:solidFill>
                  <a:srgbClr val="1A1A2E"/>
                </a:solidFill>
                <a:latin typeface="Georgia" pitchFamily="34" charset="0"/>
                <a:ea typeface="Georgia" pitchFamily="34" charset="-122"/>
                <a:cs typeface="Georgia" pitchFamily="34" charset="-120"/>
              </a:rPr>
              <a:t>Why bother?</a:t>
            </a:r>
            <a:endParaRPr lang="en-US" sz="3800" dirty="0"/>
          </a:p>
        </p:txBody>
      </p:sp>
      <p:sp>
        <p:nvSpPr>
          <p:cNvPr id="5" name="Shape 3"/>
          <p:cNvSpPr/>
          <p:nvPr/>
        </p:nvSpPr>
        <p:spPr>
          <a:xfrm>
            <a:off x="548640" y="1600200"/>
            <a:ext cx="3931920" cy="1508760"/>
          </a:xfrm>
          <a:prstGeom prst="rect">
            <a:avLst/>
          </a:prstGeom>
          <a:solidFill>
            <a:srgbClr val="FFFFFF"/>
          </a:solidFill>
          <a:ln w="12700">
            <a:solidFill>
              <a:srgbClr val="E2E8F0"/>
            </a:solidFill>
            <a:prstDash val="solid"/>
          </a:ln>
          <a:effectLst>
            <a:outerShdw sx="100000" sy="100000" kx="0" ky="0" algn="bl" rotWithShape="0" blurRad="152400" dist="38100" dir="5400000">
              <a:srgbClr val="000000">
                <a:alpha val="8000"/>
              </a:srgbClr>
            </a:outerShdw>
          </a:effectLst>
        </p:spPr>
      </p:sp>
      <p:sp>
        <p:nvSpPr>
          <p:cNvPr id="6" name="Shape 4"/>
          <p:cNvSpPr/>
          <p:nvPr/>
        </p:nvSpPr>
        <p:spPr>
          <a:xfrm>
            <a:off x="822960" y="1920240"/>
            <a:ext cx="640080" cy="640080"/>
          </a:xfrm>
          <a:prstGeom prst="ellipse">
            <a:avLst/>
          </a:prstGeom>
          <a:solidFill>
            <a:srgbClr val="FFE4DC"/>
          </a:solidFill>
          <a:ln w="12700">
            <a:solidFill>
              <a:srgbClr val="FFE4DC"/>
            </a:solidFill>
            <a:prstDash val="solid"/>
          </a:ln>
        </p:spPr>
      </p:sp>
      <p:pic>
        <p:nvPicPr>
          <p:cNvPr id="7" name="Image 0" descr="preencoded.png">    </p:cNvPr>
          <p:cNvPicPr>
            <a:picLocks noChangeAspect="1"/>
          </p:cNvPicPr>
          <p:nvPr/>
        </p:nvPicPr>
        <p:blipFill>
          <a:blip r:embed="rId1"/>
          <a:stretch>
            <a:fillRect/>
          </a:stretch>
        </p:blipFill>
        <p:spPr>
          <a:xfrm>
            <a:off x="987552" y="2084832"/>
            <a:ext cx="310896" cy="310896"/>
          </a:xfrm>
          <a:prstGeom prst="rect">
            <a:avLst/>
          </a:prstGeom>
        </p:spPr>
      </p:pic>
      <p:sp>
        <p:nvSpPr>
          <p:cNvPr id="8" name="Text 5"/>
          <p:cNvSpPr/>
          <p:nvPr/>
        </p:nvSpPr>
        <p:spPr>
          <a:xfrm>
            <a:off x="1645920" y="1874520"/>
            <a:ext cx="2651760" cy="365760"/>
          </a:xfrm>
          <a:prstGeom prst="rect">
            <a:avLst/>
          </a:prstGeom>
          <a:noFill/>
          <a:ln/>
        </p:spPr>
        <p:txBody>
          <a:bodyPr wrap="square" lIns="0" tIns="0" rIns="0" bIns="0" rtlCol="0" anchor="ctr"/>
          <a:lstStyle/>
          <a:p>
            <a:pPr indent="0" marL="0">
              <a:buNone/>
            </a:pPr>
            <a:r>
              <a:rPr lang="en-US" sz="1800" b="1" dirty="0">
                <a:solidFill>
                  <a:srgbClr val="1A1A2E"/>
                </a:solidFill>
                <a:latin typeface="Georgia" pitchFamily="34" charset="0"/>
                <a:ea typeface="Georgia" pitchFamily="34" charset="-122"/>
                <a:cs typeface="Georgia" pitchFamily="34" charset="-120"/>
              </a:rPr>
              <a:t>Consistency</a:t>
            </a:r>
            <a:endParaRPr lang="en-US" sz="1800" dirty="0"/>
          </a:p>
        </p:txBody>
      </p:sp>
      <p:sp>
        <p:nvSpPr>
          <p:cNvPr id="9" name="Text 6"/>
          <p:cNvSpPr/>
          <p:nvPr/>
        </p:nvSpPr>
        <p:spPr>
          <a:xfrm>
            <a:off x="1645920" y="2286000"/>
            <a:ext cx="2651760" cy="73152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The same prompt yields the same shape of output — every time, across every team.</a:t>
            </a:r>
            <a:endParaRPr lang="en-US" sz="1200" dirty="0"/>
          </a:p>
        </p:txBody>
      </p:sp>
      <p:sp>
        <p:nvSpPr>
          <p:cNvPr id="10" name="Shape 7"/>
          <p:cNvSpPr/>
          <p:nvPr/>
        </p:nvSpPr>
        <p:spPr>
          <a:xfrm>
            <a:off x="4663440" y="1600200"/>
            <a:ext cx="3931920" cy="1508760"/>
          </a:xfrm>
          <a:prstGeom prst="rect">
            <a:avLst/>
          </a:prstGeom>
          <a:solidFill>
            <a:srgbClr val="FFFFFF"/>
          </a:solidFill>
          <a:ln w="12700">
            <a:solidFill>
              <a:srgbClr val="E2E8F0"/>
            </a:solidFill>
            <a:prstDash val="solid"/>
          </a:ln>
          <a:effectLst>
            <a:outerShdw sx="100000" sy="100000" kx="0" ky="0" algn="bl" rotWithShape="0" blurRad="152400" dist="38100" dir="5400000">
              <a:srgbClr val="000000">
                <a:alpha val="8000"/>
              </a:srgbClr>
            </a:outerShdw>
          </a:effectLst>
        </p:spPr>
      </p:sp>
      <p:sp>
        <p:nvSpPr>
          <p:cNvPr id="11" name="Shape 8"/>
          <p:cNvSpPr/>
          <p:nvPr/>
        </p:nvSpPr>
        <p:spPr>
          <a:xfrm>
            <a:off x="4937760" y="1920240"/>
            <a:ext cx="640080" cy="640080"/>
          </a:xfrm>
          <a:prstGeom prst="ellipse">
            <a:avLst/>
          </a:prstGeom>
          <a:solidFill>
            <a:srgbClr val="FFE4DC"/>
          </a:solidFill>
          <a:ln w="12700">
            <a:solidFill>
              <a:srgbClr val="FFE4DC"/>
            </a:solidFill>
            <a:prstDash val="solid"/>
          </a:ln>
        </p:spPr>
      </p:sp>
      <p:pic>
        <p:nvPicPr>
          <p:cNvPr id="12" name="Image 1" descr="preencoded.png">    </p:cNvPr>
          <p:cNvPicPr>
            <a:picLocks noChangeAspect="1"/>
          </p:cNvPicPr>
          <p:nvPr/>
        </p:nvPicPr>
        <p:blipFill>
          <a:blip r:embed="rId2"/>
          <a:stretch>
            <a:fillRect/>
          </a:stretch>
        </p:blipFill>
        <p:spPr>
          <a:xfrm>
            <a:off x="5102352" y="2084832"/>
            <a:ext cx="310896" cy="310896"/>
          </a:xfrm>
          <a:prstGeom prst="rect">
            <a:avLst/>
          </a:prstGeom>
        </p:spPr>
      </p:pic>
      <p:sp>
        <p:nvSpPr>
          <p:cNvPr id="13" name="Text 9"/>
          <p:cNvSpPr/>
          <p:nvPr/>
        </p:nvSpPr>
        <p:spPr>
          <a:xfrm>
            <a:off x="5760720" y="1874520"/>
            <a:ext cx="2651760" cy="365760"/>
          </a:xfrm>
          <a:prstGeom prst="rect">
            <a:avLst/>
          </a:prstGeom>
          <a:noFill/>
          <a:ln/>
        </p:spPr>
        <p:txBody>
          <a:bodyPr wrap="square" lIns="0" tIns="0" rIns="0" bIns="0" rtlCol="0" anchor="ctr"/>
          <a:lstStyle/>
          <a:p>
            <a:pPr indent="0" marL="0">
              <a:buNone/>
            </a:pPr>
            <a:r>
              <a:rPr lang="en-US" sz="1800" b="1" dirty="0">
                <a:solidFill>
                  <a:srgbClr val="1A1A2E"/>
                </a:solidFill>
                <a:latin typeface="Georgia" pitchFamily="34" charset="0"/>
                <a:ea typeface="Georgia" pitchFamily="34" charset="-122"/>
                <a:cs typeface="Georgia" pitchFamily="34" charset="-120"/>
              </a:rPr>
              <a:t>Less prompt sprawl</a:t>
            </a:r>
            <a:endParaRPr lang="en-US" sz="1800" dirty="0"/>
          </a:p>
        </p:txBody>
      </p:sp>
      <p:sp>
        <p:nvSpPr>
          <p:cNvPr id="14" name="Text 10"/>
          <p:cNvSpPr/>
          <p:nvPr/>
        </p:nvSpPr>
        <p:spPr>
          <a:xfrm>
            <a:off x="5760720" y="2286000"/>
            <a:ext cx="2651760" cy="73152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Stop pasting the same 400 words into every chat. Encode it once, invoke it forever.</a:t>
            </a:r>
            <a:endParaRPr lang="en-US" sz="1200" dirty="0"/>
          </a:p>
        </p:txBody>
      </p:sp>
      <p:sp>
        <p:nvSpPr>
          <p:cNvPr id="15" name="Shape 11"/>
          <p:cNvSpPr/>
          <p:nvPr/>
        </p:nvSpPr>
        <p:spPr>
          <a:xfrm>
            <a:off x="548640" y="3291840"/>
            <a:ext cx="3931920" cy="1508760"/>
          </a:xfrm>
          <a:prstGeom prst="rect">
            <a:avLst/>
          </a:prstGeom>
          <a:solidFill>
            <a:srgbClr val="FFFFFF"/>
          </a:solidFill>
          <a:ln w="12700">
            <a:solidFill>
              <a:srgbClr val="E2E8F0"/>
            </a:solidFill>
            <a:prstDash val="solid"/>
          </a:ln>
          <a:effectLst>
            <a:outerShdw sx="100000" sy="100000" kx="0" ky="0" algn="bl" rotWithShape="0" blurRad="152400" dist="38100" dir="5400000">
              <a:srgbClr val="000000">
                <a:alpha val="8000"/>
              </a:srgbClr>
            </a:outerShdw>
          </a:effectLst>
        </p:spPr>
      </p:sp>
      <p:sp>
        <p:nvSpPr>
          <p:cNvPr id="16" name="Shape 12"/>
          <p:cNvSpPr/>
          <p:nvPr/>
        </p:nvSpPr>
        <p:spPr>
          <a:xfrm>
            <a:off x="822960" y="3611880"/>
            <a:ext cx="640080" cy="640080"/>
          </a:xfrm>
          <a:prstGeom prst="ellipse">
            <a:avLst/>
          </a:prstGeom>
          <a:solidFill>
            <a:srgbClr val="FFE4DC"/>
          </a:solidFill>
          <a:ln w="12700">
            <a:solidFill>
              <a:srgbClr val="FFE4DC"/>
            </a:solidFill>
            <a:prstDash val="solid"/>
          </a:ln>
        </p:spPr>
      </p:sp>
      <p:pic>
        <p:nvPicPr>
          <p:cNvPr id="17" name="Image 2" descr="preencoded.png">    </p:cNvPr>
          <p:cNvPicPr>
            <a:picLocks noChangeAspect="1"/>
          </p:cNvPicPr>
          <p:nvPr/>
        </p:nvPicPr>
        <p:blipFill>
          <a:blip r:embed="rId3"/>
          <a:stretch>
            <a:fillRect/>
          </a:stretch>
        </p:blipFill>
        <p:spPr>
          <a:xfrm>
            <a:off x="987552" y="3776472"/>
            <a:ext cx="310896" cy="310896"/>
          </a:xfrm>
          <a:prstGeom prst="rect">
            <a:avLst/>
          </a:prstGeom>
        </p:spPr>
      </p:pic>
      <p:sp>
        <p:nvSpPr>
          <p:cNvPr id="18" name="Text 13"/>
          <p:cNvSpPr/>
          <p:nvPr/>
        </p:nvSpPr>
        <p:spPr>
          <a:xfrm>
            <a:off x="1645920" y="3566160"/>
            <a:ext cx="2651760" cy="365760"/>
          </a:xfrm>
          <a:prstGeom prst="rect">
            <a:avLst/>
          </a:prstGeom>
          <a:noFill/>
          <a:ln/>
        </p:spPr>
        <p:txBody>
          <a:bodyPr wrap="square" lIns="0" tIns="0" rIns="0" bIns="0" rtlCol="0" anchor="ctr"/>
          <a:lstStyle/>
          <a:p>
            <a:pPr indent="0" marL="0">
              <a:buNone/>
            </a:pPr>
            <a:r>
              <a:rPr lang="en-US" sz="1800" b="1" dirty="0">
                <a:solidFill>
                  <a:srgbClr val="1A1A2E"/>
                </a:solidFill>
                <a:latin typeface="Georgia" pitchFamily="34" charset="0"/>
                <a:ea typeface="Georgia" pitchFamily="34" charset="-122"/>
                <a:cs typeface="Georgia" pitchFamily="34" charset="-120"/>
              </a:rPr>
              <a:t>Governable</a:t>
            </a:r>
            <a:endParaRPr lang="en-US" sz="1800" dirty="0"/>
          </a:p>
        </p:txBody>
      </p:sp>
      <p:sp>
        <p:nvSpPr>
          <p:cNvPr id="19" name="Text 14"/>
          <p:cNvSpPr/>
          <p:nvPr/>
        </p:nvSpPr>
        <p:spPr>
          <a:xfrm>
            <a:off x="1645920" y="3977640"/>
            <a:ext cx="2651760" cy="73152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Versioned, inspectable, auditable. Treat agent behavior like code, not folklore.</a:t>
            </a:r>
            <a:endParaRPr lang="en-US" sz="1200" dirty="0"/>
          </a:p>
        </p:txBody>
      </p:sp>
      <p:sp>
        <p:nvSpPr>
          <p:cNvPr id="20" name="Shape 15"/>
          <p:cNvSpPr/>
          <p:nvPr/>
        </p:nvSpPr>
        <p:spPr>
          <a:xfrm>
            <a:off x="4663440" y="3291840"/>
            <a:ext cx="3931920" cy="1508760"/>
          </a:xfrm>
          <a:prstGeom prst="rect">
            <a:avLst/>
          </a:prstGeom>
          <a:solidFill>
            <a:srgbClr val="FFFFFF"/>
          </a:solidFill>
          <a:ln w="12700">
            <a:solidFill>
              <a:srgbClr val="E2E8F0"/>
            </a:solidFill>
            <a:prstDash val="solid"/>
          </a:ln>
          <a:effectLst>
            <a:outerShdw sx="100000" sy="100000" kx="0" ky="0" algn="bl" rotWithShape="0" blurRad="152400" dist="38100" dir="5400000">
              <a:srgbClr val="000000">
                <a:alpha val="8000"/>
              </a:srgbClr>
            </a:outerShdw>
          </a:effectLst>
        </p:spPr>
      </p:sp>
      <p:sp>
        <p:nvSpPr>
          <p:cNvPr id="21" name="Shape 16"/>
          <p:cNvSpPr/>
          <p:nvPr/>
        </p:nvSpPr>
        <p:spPr>
          <a:xfrm>
            <a:off x="4937760" y="3611880"/>
            <a:ext cx="640080" cy="640080"/>
          </a:xfrm>
          <a:prstGeom prst="ellipse">
            <a:avLst/>
          </a:prstGeom>
          <a:solidFill>
            <a:srgbClr val="FFE4DC"/>
          </a:solidFill>
          <a:ln w="12700">
            <a:solidFill>
              <a:srgbClr val="FFE4DC"/>
            </a:solidFill>
            <a:prstDash val="solid"/>
          </a:ln>
        </p:spPr>
      </p:sp>
      <p:pic>
        <p:nvPicPr>
          <p:cNvPr id="22" name="Image 3" descr="preencoded.png">    </p:cNvPr>
          <p:cNvPicPr>
            <a:picLocks noChangeAspect="1"/>
          </p:cNvPicPr>
          <p:nvPr/>
        </p:nvPicPr>
        <p:blipFill>
          <a:blip r:embed="rId4"/>
          <a:stretch>
            <a:fillRect/>
          </a:stretch>
        </p:blipFill>
        <p:spPr>
          <a:xfrm>
            <a:off x="5102352" y="3776472"/>
            <a:ext cx="310896" cy="310896"/>
          </a:xfrm>
          <a:prstGeom prst="rect">
            <a:avLst/>
          </a:prstGeom>
        </p:spPr>
      </p:pic>
      <p:sp>
        <p:nvSpPr>
          <p:cNvPr id="23" name="Text 17"/>
          <p:cNvSpPr/>
          <p:nvPr/>
        </p:nvSpPr>
        <p:spPr>
          <a:xfrm>
            <a:off x="5760720" y="3566160"/>
            <a:ext cx="2651760" cy="365760"/>
          </a:xfrm>
          <a:prstGeom prst="rect">
            <a:avLst/>
          </a:prstGeom>
          <a:noFill/>
          <a:ln/>
        </p:spPr>
        <p:txBody>
          <a:bodyPr wrap="square" lIns="0" tIns="0" rIns="0" bIns="0" rtlCol="0" anchor="ctr"/>
          <a:lstStyle/>
          <a:p>
            <a:pPr indent="0" marL="0">
              <a:buNone/>
            </a:pPr>
            <a:r>
              <a:rPr lang="en-US" sz="1800" b="1" dirty="0">
                <a:solidFill>
                  <a:srgbClr val="1A1A2E"/>
                </a:solidFill>
                <a:latin typeface="Georgia" pitchFamily="34" charset="0"/>
                <a:ea typeface="Georgia" pitchFamily="34" charset="-122"/>
                <a:cs typeface="Georgia" pitchFamily="34" charset="-120"/>
              </a:rPr>
              <a:t>Lean context</a:t>
            </a:r>
            <a:endParaRPr lang="en-US" sz="1800" dirty="0"/>
          </a:p>
        </p:txBody>
      </p:sp>
      <p:sp>
        <p:nvSpPr>
          <p:cNvPr id="24" name="Text 18"/>
          <p:cNvSpPr/>
          <p:nvPr/>
        </p:nvSpPr>
        <p:spPr>
          <a:xfrm>
            <a:off x="5760720" y="3977640"/>
            <a:ext cx="2651760" cy="73152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Only what’s relevant loads. The deeper the skill, the smaller the cost.</a:t>
            </a:r>
            <a:endParaRPr lang="en-US" sz="1200" dirty="0"/>
          </a:p>
        </p:txBody>
      </p:sp>
      <p:sp>
        <p:nvSpPr>
          <p:cNvPr id="25" name="Text 19"/>
          <p:cNvSpPr/>
          <p:nvPr/>
        </p:nvSpPr>
        <p:spPr>
          <a:xfrm>
            <a:off x="457200" y="4800600"/>
            <a:ext cx="1371600" cy="228600"/>
          </a:xfrm>
          <a:prstGeom prst="rect">
            <a:avLst/>
          </a:prstGeom>
          <a:noFill/>
          <a:ln/>
        </p:spPr>
        <p:txBody>
          <a:bodyPr wrap="square" rtlCol="0" anchor="ctr"/>
          <a:lstStyle/>
          <a:p>
            <a:pPr indent="0" marL="0">
              <a:buNone/>
            </a:pPr>
            <a:r>
              <a:rPr lang="en-US" sz="900" spc="200" kern="0" dirty="0">
                <a:solidFill>
                  <a:srgbClr val="64748B"/>
                </a:solidFill>
                <a:latin typeface="Calibri" pitchFamily="34" charset="0"/>
                <a:ea typeface="Calibri" pitchFamily="34" charset="-122"/>
                <a:cs typeface="Calibri" pitchFamily="34" charset="-120"/>
              </a:rPr>
              <a:t>06 / 07</a:t>
            </a:r>
            <a:endParaRPr lang="en-US" sz="900" dirty="0"/>
          </a:p>
        </p:txBody>
      </p:sp>
      <p:sp>
        <p:nvSpPr>
          <p:cNvPr id="26" name="Text 20"/>
          <p:cNvSpPr/>
          <p:nvPr/>
        </p:nvSpPr>
        <p:spPr>
          <a:xfrm>
            <a:off x="7315200" y="4800600"/>
            <a:ext cx="1371600" cy="228600"/>
          </a:xfrm>
          <a:prstGeom prst="rect">
            <a:avLst/>
          </a:prstGeom>
          <a:noFill/>
          <a:ln/>
        </p:spPr>
        <p:txBody>
          <a:bodyPr wrap="square" rtlCol="0" anchor="ctr"/>
          <a:lstStyle/>
          <a:p>
            <a:pPr algn="r" indent="0" marL="0">
              <a:buNone/>
            </a:pPr>
            <a:r>
              <a:rPr lang="en-US" sz="900" b="1" spc="300" kern="0" dirty="0">
                <a:solidFill>
                  <a:srgbClr val="64748B"/>
                </a:solidFill>
                <a:latin typeface="Calibri" pitchFamily="34" charset="0"/>
                <a:ea typeface="Calibri" pitchFamily="34" charset="-122"/>
                <a:cs typeface="Calibri" pitchFamily="34" charset="-120"/>
              </a:rPr>
              <a:t>AGENT SKILLS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FF6B47"/>
          </a:solidFill>
          <a:ln w="12700">
            <a:solidFill>
              <a:srgbClr val="FF6B47"/>
            </a:solidFill>
            <a:prstDash val="solid"/>
          </a:ln>
        </p:spPr>
      </p:sp>
      <p:sp>
        <p:nvSpPr>
          <p:cNvPr id="3" name="Text 1"/>
          <p:cNvSpPr/>
          <p:nvPr/>
        </p:nvSpPr>
        <p:spPr>
          <a:xfrm>
            <a:off x="640080" y="502920"/>
            <a:ext cx="5486400" cy="274320"/>
          </a:xfrm>
          <a:prstGeom prst="rect">
            <a:avLst/>
          </a:prstGeom>
          <a:noFill/>
          <a:ln/>
        </p:spPr>
        <p:txBody>
          <a:bodyPr wrap="square" lIns="0" tIns="0" rIns="0" bIns="0" rtlCol="0" anchor="ctr"/>
          <a:lstStyle/>
          <a:p>
            <a:pPr indent="0" marL="0">
              <a:buNone/>
            </a:pPr>
            <a:r>
              <a:rPr lang="en-US" sz="1100" b="1" spc="600" kern="0" dirty="0">
                <a:solidFill>
                  <a:srgbClr val="FF6B47"/>
                </a:solidFill>
                <a:latin typeface="Calibri" pitchFamily="34" charset="0"/>
                <a:ea typeface="Calibri" pitchFamily="34" charset="-122"/>
                <a:cs typeface="Calibri" pitchFamily="34" charset="-120"/>
              </a:rPr>
              <a:t>FURTHER READING</a:t>
            </a:r>
            <a:endParaRPr lang="en-US" sz="1100" dirty="0"/>
          </a:p>
        </p:txBody>
      </p:sp>
      <p:sp>
        <p:nvSpPr>
          <p:cNvPr id="4" name="Text 2"/>
          <p:cNvSpPr/>
          <p:nvPr/>
        </p:nvSpPr>
        <p:spPr>
          <a:xfrm>
            <a:off x="640080" y="822960"/>
            <a:ext cx="8229600" cy="731520"/>
          </a:xfrm>
          <a:prstGeom prst="rect">
            <a:avLst/>
          </a:prstGeom>
          <a:noFill/>
          <a:ln/>
        </p:spPr>
        <p:txBody>
          <a:bodyPr wrap="square" lIns="0" tIns="0" rIns="0" bIns="0" rtlCol="0" anchor="ctr"/>
          <a:lstStyle/>
          <a:p>
            <a:pPr indent="0" marL="0">
              <a:buNone/>
            </a:pPr>
            <a:r>
              <a:rPr lang="en-US" sz="4200" b="1" dirty="0">
                <a:solidFill>
                  <a:srgbClr val="FFFFFF"/>
                </a:solidFill>
                <a:latin typeface="Georgia" pitchFamily="34" charset="0"/>
                <a:ea typeface="Georgia" pitchFamily="34" charset="-122"/>
                <a:cs typeface="Georgia" pitchFamily="34" charset="-120"/>
              </a:rPr>
              <a:t>Where to go next</a:t>
            </a:r>
            <a:endParaRPr lang="en-US" sz="4200" dirty="0"/>
          </a:p>
        </p:txBody>
      </p:sp>
      <p:sp>
        <p:nvSpPr>
          <p:cNvPr id="5" name="Shape 3"/>
          <p:cNvSpPr/>
          <p:nvPr/>
        </p:nvSpPr>
        <p:spPr>
          <a:xfrm>
            <a:off x="640080" y="1874520"/>
            <a:ext cx="411480" cy="411480"/>
          </a:xfrm>
          <a:prstGeom prst="ellipse">
            <a:avLst/>
          </a:prstGeom>
          <a:solidFill>
            <a:srgbClr val="FF6B47"/>
          </a:solidFill>
          <a:ln w="12700">
            <a:solidFill>
              <a:srgbClr val="FF6B47"/>
            </a:solidFill>
            <a:prstDash val="solid"/>
          </a:ln>
        </p:spPr>
      </p:sp>
      <p:pic>
        <p:nvPicPr>
          <p:cNvPr id="6" name="Image 0" descr="preencoded.png">    </p:cNvPr>
          <p:cNvPicPr>
            <a:picLocks noChangeAspect="1"/>
          </p:cNvPicPr>
          <p:nvPr/>
        </p:nvPicPr>
        <p:blipFill>
          <a:blip r:embed="rId1"/>
          <a:stretch>
            <a:fillRect/>
          </a:stretch>
        </p:blipFill>
        <p:spPr>
          <a:xfrm>
            <a:off x="740664" y="1975104"/>
            <a:ext cx="210312" cy="210312"/>
          </a:xfrm>
          <a:prstGeom prst="rect">
            <a:avLst/>
          </a:prstGeom>
        </p:spPr>
      </p:pic>
      <p:sp>
        <p:nvSpPr>
          <p:cNvPr id="7" name="Text 4"/>
          <p:cNvSpPr/>
          <p:nvPr/>
        </p:nvSpPr>
        <p:spPr>
          <a:xfrm>
            <a:off x="1234440" y="1828800"/>
            <a:ext cx="7498080" cy="27432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Engineering deep dive</a:t>
            </a:r>
            <a:endParaRPr lang="en-US" sz="1400" dirty="0"/>
          </a:p>
        </p:txBody>
      </p:sp>
      <p:sp>
        <p:nvSpPr>
          <p:cNvPr id="8" name="Text 5"/>
          <p:cNvSpPr/>
          <p:nvPr/>
        </p:nvSpPr>
        <p:spPr>
          <a:xfrm>
            <a:off x="1234440" y="2103120"/>
            <a:ext cx="7498080" cy="228600"/>
          </a:xfrm>
          <a:prstGeom prst="rect">
            <a:avLst/>
          </a:prstGeom>
          <a:noFill/>
          <a:ln/>
        </p:spPr>
        <p:txBody>
          <a:bodyPr wrap="square" lIns="0" tIns="0" rIns="0" bIns="0" rtlCol="0" anchor="ctr"/>
          <a:lstStyle/>
          <a:p>
            <a:pPr indent="0" marL="0">
              <a:buNone/>
            </a:pPr>
            <a:r>
              <a:rPr lang="en-US" sz="1000" dirty="0">
                <a:solidFill>
                  <a:srgbClr val="FF6B47"/>
                </a:solidFill>
                <a:latin typeface="Consolas" pitchFamily="34" charset="0"/>
                <a:ea typeface="Consolas" pitchFamily="34" charset="-122"/>
                <a:cs typeface="Consolas" pitchFamily="34" charset="-120"/>
              </a:rPr>
              <a:t>anthropic.com/engineering/equipping-agents-for-the-real-world-with-agent-skills</a:t>
            </a:r>
            <a:endParaRPr lang="en-US" sz="1000" dirty="0"/>
          </a:p>
        </p:txBody>
      </p:sp>
      <p:sp>
        <p:nvSpPr>
          <p:cNvPr id="9" name="Text 6"/>
          <p:cNvSpPr/>
          <p:nvPr/>
        </p:nvSpPr>
        <p:spPr>
          <a:xfrm>
            <a:off x="1234440" y="2304288"/>
            <a:ext cx="7498080" cy="201168"/>
          </a:xfrm>
          <a:prstGeom prst="rect">
            <a:avLst/>
          </a:prstGeom>
          <a:noFill/>
          <a:ln/>
        </p:spPr>
        <p:txBody>
          <a:bodyPr wrap="square" lIns="0" tIns="0" rIns="0" bIns="0" rtlCol="0" anchor="ctr"/>
          <a:lstStyle/>
          <a:p>
            <a:pPr indent="0" marL="0">
              <a:buNone/>
            </a:pPr>
            <a:r>
              <a:rPr lang="en-US" sz="1000" i="1" dirty="0">
                <a:solidFill>
                  <a:srgbClr val="B0B0B8"/>
                </a:solidFill>
                <a:latin typeface="Calibri" pitchFamily="34" charset="0"/>
                <a:ea typeface="Calibri" pitchFamily="34" charset="-122"/>
                <a:cs typeface="Calibri" pitchFamily="34" charset="-120"/>
              </a:rPr>
              <a:t>The original blog post — architecture, design principles, real examples.</a:t>
            </a:r>
            <a:endParaRPr lang="en-US" sz="1000" dirty="0"/>
          </a:p>
        </p:txBody>
      </p:sp>
      <p:sp>
        <p:nvSpPr>
          <p:cNvPr id="10" name="Shape 7"/>
          <p:cNvSpPr/>
          <p:nvPr/>
        </p:nvSpPr>
        <p:spPr>
          <a:xfrm>
            <a:off x="640080" y="2560320"/>
            <a:ext cx="411480" cy="411480"/>
          </a:xfrm>
          <a:prstGeom prst="ellipse">
            <a:avLst/>
          </a:prstGeom>
          <a:solidFill>
            <a:srgbClr val="FF6B47"/>
          </a:solidFill>
          <a:ln w="12700">
            <a:solidFill>
              <a:srgbClr val="FF6B47"/>
            </a:solidFill>
            <a:prstDash val="solid"/>
          </a:ln>
        </p:spPr>
      </p:sp>
      <p:pic>
        <p:nvPicPr>
          <p:cNvPr id="11" name="Image 1" descr="preencoded.png">    </p:cNvPr>
          <p:cNvPicPr>
            <a:picLocks noChangeAspect="1"/>
          </p:cNvPicPr>
          <p:nvPr/>
        </p:nvPicPr>
        <p:blipFill>
          <a:blip r:embed="rId2"/>
          <a:stretch>
            <a:fillRect/>
          </a:stretch>
        </p:blipFill>
        <p:spPr>
          <a:xfrm>
            <a:off x="740664" y="2660904"/>
            <a:ext cx="210312" cy="210312"/>
          </a:xfrm>
          <a:prstGeom prst="rect">
            <a:avLst/>
          </a:prstGeom>
        </p:spPr>
      </p:pic>
      <p:sp>
        <p:nvSpPr>
          <p:cNvPr id="12" name="Text 8"/>
          <p:cNvSpPr/>
          <p:nvPr/>
        </p:nvSpPr>
        <p:spPr>
          <a:xfrm>
            <a:off x="1234440" y="2514600"/>
            <a:ext cx="7498080" cy="27432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Official documentation</a:t>
            </a:r>
            <a:endParaRPr lang="en-US" sz="1400" dirty="0"/>
          </a:p>
        </p:txBody>
      </p:sp>
      <p:sp>
        <p:nvSpPr>
          <p:cNvPr id="13" name="Text 9"/>
          <p:cNvSpPr/>
          <p:nvPr/>
        </p:nvSpPr>
        <p:spPr>
          <a:xfrm>
            <a:off x="1234440" y="2788920"/>
            <a:ext cx="7498080" cy="228600"/>
          </a:xfrm>
          <a:prstGeom prst="rect">
            <a:avLst/>
          </a:prstGeom>
          <a:noFill/>
          <a:ln/>
        </p:spPr>
        <p:txBody>
          <a:bodyPr wrap="square" lIns="0" tIns="0" rIns="0" bIns="0" rtlCol="0" anchor="ctr"/>
          <a:lstStyle/>
          <a:p>
            <a:pPr indent="0" marL="0">
              <a:buNone/>
            </a:pPr>
            <a:r>
              <a:rPr lang="en-US" sz="1000" dirty="0">
                <a:solidFill>
                  <a:srgbClr val="FF6B47"/>
                </a:solidFill>
                <a:latin typeface="Consolas" pitchFamily="34" charset="0"/>
                <a:ea typeface="Consolas" pitchFamily="34" charset="-122"/>
                <a:cs typeface="Consolas" pitchFamily="34" charset="-120"/>
              </a:rPr>
              <a:t>platform.claude.com/docs/agents-and-tools/agent-skills</a:t>
            </a:r>
            <a:endParaRPr lang="en-US" sz="1000" dirty="0"/>
          </a:p>
        </p:txBody>
      </p:sp>
      <p:sp>
        <p:nvSpPr>
          <p:cNvPr id="14" name="Text 10"/>
          <p:cNvSpPr/>
          <p:nvPr/>
        </p:nvSpPr>
        <p:spPr>
          <a:xfrm>
            <a:off x="1234440" y="2990088"/>
            <a:ext cx="7498080" cy="201168"/>
          </a:xfrm>
          <a:prstGeom prst="rect">
            <a:avLst/>
          </a:prstGeom>
          <a:noFill/>
          <a:ln/>
        </p:spPr>
        <p:txBody>
          <a:bodyPr wrap="square" lIns="0" tIns="0" rIns="0" bIns="0" rtlCol="0" anchor="ctr"/>
          <a:lstStyle/>
          <a:p>
            <a:pPr indent="0" marL="0">
              <a:buNone/>
            </a:pPr>
            <a:r>
              <a:rPr lang="en-US" sz="1000" i="1" dirty="0">
                <a:solidFill>
                  <a:srgbClr val="B0B0B8"/>
                </a:solidFill>
                <a:latin typeface="Calibri" pitchFamily="34" charset="0"/>
                <a:ea typeface="Calibri" pitchFamily="34" charset="-122"/>
                <a:cs typeface="Calibri" pitchFamily="34" charset="-120"/>
              </a:rPr>
              <a:t>API, surfaces, custom skill authoring, limitations.</a:t>
            </a:r>
            <a:endParaRPr lang="en-US" sz="1000" dirty="0"/>
          </a:p>
        </p:txBody>
      </p:sp>
      <p:sp>
        <p:nvSpPr>
          <p:cNvPr id="15" name="Shape 11"/>
          <p:cNvSpPr/>
          <p:nvPr/>
        </p:nvSpPr>
        <p:spPr>
          <a:xfrm>
            <a:off x="640080" y="3246120"/>
            <a:ext cx="411480" cy="411480"/>
          </a:xfrm>
          <a:prstGeom prst="ellipse">
            <a:avLst/>
          </a:prstGeom>
          <a:solidFill>
            <a:srgbClr val="FF6B47"/>
          </a:solidFill>
          <a:ln w="12700">
            <a:solidFill>
              <a:srgbClr val="FF6B47"/>
            </a:solidFill>
            <a:prstDash val="solid"/>
          </a:ln>
        </p:spPr>
      </p:sp>
      <p:pic>
        <p:nvPicPr>
          <p:cNvPr id="16" name="Image 2" descr="preencoded.png">    </p:cNvPr>
          <p:cNvPicPr>
            <a:picLocks noChangeAspect="1"/>
          </p:cNvPicPr>
          <p:nvPr/>
        </p:nvPicPr>
        <p:blipFill>
          <a:blip r:embed="rId3"/>
          <a:stretch>
            <a:fillRect/>
          </a:stretch>
        </p:blipFill>
        <p:spPr>
          <a:xfrm>
            <a:off x="740664" y="3346704"/>
            <a:ext cx="210312" cy="210312"/>
          </a:xfrm>
          <a:prstGeom prst="rect">
            <a:avLst/>
          </a:prstGeom>
        </p:spPr>
      </p:pic>
      <p:sp>
        <p:nvSpPr>
          <p:cNvPr id="17" name="Text 12"/>
          <p:cNvSpPr/>
          <p:nvPr/>
        </p:nvSpPr>
        <p:spPr>
          <a:xfrm>
            <a:off x="1234440" y="3200400"/>
            <a:ext cx="7498080" cy="27432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Open-source skill repository</a:t>
            </a:r>
            <a:endParaRPr lang="en-US" sz="1400" dirty="0"/>
          </a:p>
        </p:txBody>
      </p:sp>
      <p:sp>
        <p:nvSpPr>
          <p:cNvPr id="18" name="Text 13"/>
          <p:cNvSpPr/>
          <p:nvPr/>
        </p:nvSpPr>
        <p:spPr>
          <a:xfrm>
            <a:off x="1234440" y="3474720"/>
            <a:ext cx="7498080" cy="228600"/>
          </a:xfrm>
          <a:prstGeom prst="rect">
            <a:avLst/>
          </a:prstGeom>
          <a:noFill/>
          <a:ln/>
        </p:spPr>
        <p:txBody>
          <a:bodyPr wrap="square" lIns="0" tIns="0" rIns="0" bIns="0" rtlCol="0" anchor="ctr"/>
          <a:lstStyle/>
          <a:p>
            <a:pPr indent="0" marL="0">
              <a:buNone/>
            </a:pPr>
            <a:r>
              <a:rPr lang="en-US" sz="1000" dirty="0">
                <a:solidFill>
                  <a:srgbClr val="FF6B47"/>
                </a:solidFill>
                <a:latin typeface="Consolas" pitchFamily="34" charset="0"/>
                <a:ea typeface="Consolas" pitchFamily="34" charset="-122"/>
                <a:cs typeface="Consolas" pitchFamily="34" charset="-120"/>
              </a:rPr>
              <a:t>github.com/anthropics/skills</a:t>
            </a:r>
            <a:endParaRPr lang="en-US" sz="1000" dirty="0"/>
          </a:p>
        </p:txBody>
      </p:sp>
      <p:sp>
        <p:nvSpPr>
          <p:cNvPr id="19" name="Text 14"/>
          <p:cNvSpPr/>
          <p:nvPr/>
        </p:nvSpPr>
        <p:spPr>
          <a:xfrm>
            <a:off x="1234440" y="3675888"/>
            <a:ext cx="7498080" cy="201168"/>
          </a:xfrm>
          <a:prstGeom prst="rect">
            <a:avLst/>
          </a:prstGeom>
          <a:noFill/>
          <a:ln/>
        </p:spPr>
        <p:txBody>
          <a:bodyPr wrap="square" lIns="0" tIns="0" rIns="0" bIns="0" rtlCol="0" anchor="ctr"/>
          <a:lstStyle/>
          <a:p>
            <a:pPr indent="0" marL="0">
              <a:buNone/>
            </a:pPr>
            <a:r>
              <a:rPr lang="en-US" sz="1000" i="1" dirty="0">
                <a:solidFill>
                  <a:srgbClr val="B0B0B8"/>
                </a:solidFill>
                <a:latin typeface="Calibri" pitchFamily="34" charset="0"/>
                <a:ea typeface="Calibri" pitchFamily="34" charset="-122"/>
                <a:cs typeface="Calibri" pitchFamily="34" charset="-120"/>
              </a:rPr>
              <a:t>Anthropic’s public Skills — the document skills, examples, plugin marketplace.</a:t>
            </a:r>
            <a:endParaRPr lang="en-US" sz="1000" dirty="0"/>
          </a:p>
        </p:txBody>
      </p:sp>
      <p:sp>
        <p:nvSpPr>
          <p:cNvPr id="20" name="Shape 15"/>
          <p:cNvSpPr/>
          <p:nvPr/>
        </p:nvSpPr>
        <p:spPr>
          <a:xfrm>
            <a:off x="640080" y="3931920"/>
            <a:ext cx="411480" cy="411480"/>
          </a:xfrm>
          <a:prstGeom prst="ellipse">
            <a:avLst/>
          </a:prstGeom>
          <a:solidFill>
            <a:srgbClr val="FF6B47"/>
          </a:solidFill>
          <a:ln w="12700">
            <a:solidFill>
              <a:srgbClr val="FF6B47"/>
            </a:solidFill>
            <a:prstDash val="solid"/>
          </a:ln>
        </p:spPr>
      </p:sp>
      <p:pic>
        <p:nvPicPr>
          <p:cNvPr id="21" name="Image 3" descr="preencoded.png">    </p:cNvPr>
          <p:cNvPicPr>
            <a:picLocks noChangeAspect="1"/>
          </p:cNvPicPr>
          <p:nvPr/>
        </p:nvPicPr>
        <p:blipFill>
          <a:blip r:embed="rId4"/>
          <a:stretch>
            <a:fillRect/>
          </a:stretch>
        </p:blipFill>
        <p:spPr>
          <a:xfrm>
            <a:off x="740664" y="4032504"/>
            <a:ext cx="210312" cy="210312"/>
          </a:xfrm>
          <a:prstGeom prst="rect">
            <a:avLst/>
          </a:prstGeom>
        </p:spPr>
      </p:pic>
      <p:sp>
        <p:nvSpPr>
          <p:cNvPr id="22" name="Text 16"/>
          <p:cNvSpPr/>
          <p:nvPr/>
        </p:nvSpPr>
        <p:spPr>
          <a:xfrm>
            <a:off x="1234440" y="3886200"/>
            <a:ext cx="7498080" cy="27432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Anthropic Academy course</a:t>
            </a:r>
            <a:endParaRPr lang="en-US" sz="1400" dirty="0"/>
          </a:p>
        </p:txBody>
      </p:sp>
      <p:sp>
        <p:nvSpPr>
          <p:cNvPr id="23" name="Text 17"/>
          <p:cNvSpPr/>
          <p:nvPr/>
        </p:nvSpPr>
        <p:spPr>
          <a:xfrm>
            <a:off x="1234440" y="4160520"/>
            <a:ext cx="7498080" cy="228600"/>
          </a:xfrm>
          <a:prstGeom prst="rect">
            <a:avLst/>
          </a:prstGeom>
          <a:noFill/>
          <a:ln/>
        </p:spPr>
        <p:txBody>
          <a:bodyPr wrap="square" lIns="0" tIns="0" rIns="0" bIns="0" rtlCol="0" anchor="ctr"/>
          <a:lstStyle/>
          <a:p>
            <a:pPr indent="0" marL="0">
              <a:buNone/>
            </a:pPr>
            <a:r>
              <a:rPr lang="en-US" sz="1000" dirty="0">
                <a:solidFill>
                  <a:srgbClr val="FF6B47"/>
                </a:solidFill>
                <a:latin typeface="Consolas" pitchFamily="34" charset="0"/>
                <a:ea typeface="Consolas" pitchFamily="34" charset="-122"/>
                <a:cs typeface="Consolas" pitchFamily="34" charset="-120"/>
              </a:rPr>
              <a:t>anthropic.skilljar.com/introduction-to-agent-skills</a:t>
            </a:r>
            <a:endParaRPr lang="en-US" sz="1000" dirty="0"/>
          </a:p>
        </p:txBody>
      </p:sp>
      <p:sp>
        <p:nvSpPr>
          <p:cNvPr id="24" name="Text 18"/>
          <p:cNvSpPr/>
          <p:nvPr/>
        </p:nvSpPr>
        <p:spPr>
          <a:xfrm>
            <a:off x="1234440" y="4361688"/>
            <a:ext cx="7498080" cy="201168"/>
          </a:xfrm>
          <a:prstGeom prst="rect">
            <a:avLst/>
          </a:prstGeom>
          <a:noFill/>
          <a:ln/>
        </p:spPr>
        <p:txBody>
          <a:bodyPr wrap="square" lIns="0" tIns="0" rIns="0" bIns="0" rtlCol="0" anchor="ctr"/>
          <a:lstStyle/>
          <a:p>
            <a:pPr indent="0" marL="0">
              <a:buNone/>
            </a:pPr>
            <a:r>
              <a:rPr lang="en-US" sz="1000" i="1" dirty="0">
                <a:solidFill>
                  <a:srgbClr val="B0B0B8"/>
                </a:solidFill>
                <a:latin typeface="Calibri" pitchFamily="34" charset="0"/>
                <a:ea typeface="Calibri" pitchFamily="34" charset="-122"/>
                <a:cs typeface="Calibri" pitchFamily="34" charset="-120"/>
              </a:rPr>
              <a:t>Hands-on intro: build, configure, share, distribute.</a:t>
            </a:r>
            <a:endParaRPr lang="en-US" sz="1000" dirty="0"/>
          </a:p>
        </p:txBody>
      </p:sp>
      <p:sp>
        <p:nvSpPr>
          <p:cNvPr id="25" name="Shape 19"/>
          <p:cNvSpPr/>
          <p:nvPr/>
        </p:nvSpPr>
        <p:spPr>
          <a:xfrm>
            <a:off x="640080" y="4754880"/>
            <a:ext cx="548640" cy="36576"/>
          </a:xfrm>
          <a:prstGeom prst="rect">
            <a:avLst/>
          </a:prstGeom>
          <a:solidFill>
            <a:srgbClr val="FF6B47"/>
          </a:solidFill>
          <a:ln w="12700">
            <a:solidFill>
              <a:srgbClr val="FF6B47"/>
            </a:solidFill>
            <a:prstDash val="solid"/>
          </a:ln>
        </p:spPr>
      </p:sp>
      <p:sp>
        <p:nvSpPr>
          <p:cNvPr id="26" name="Text 20"/>
          <p:cNvSpPr/>
          <p:nvPr/>
        </p:nvSpPr>
        <p:spPr>
          <a:xfrm>
            <a:off x="640080" y="4818888"/>
            <a:ext cx="8229600" cy="228600"/>
          </a:xfrm>
          <a:prstGeom prst="rect">
            <a:avLst/>
          </a:prstGeom>
          <a:noFill/>
          <a:ln/>
        </p:spPr>
        <p:txBody>
          <a:bodyPr wrap="square" lIns="0" tIns="0" rIns="0" bIns="0" rtlCol="0" anchor="ctr"/>
          <a:lstStyle/>
          <a:p>
            <a:pPr indent="0" marL="0">
              <a:buNone/>
            </a:pPr>
            <a:r>
              <a:rPr lang="en-US" sz="900" spc="400" kern="0" dirty="0">
                <a:solidFill>
                  <a:srgbClr val="B0B0B8"/>
                </a:solidFill>
                <a:latin typeface="Calibri" pitchFamily="34" charset="0"/>
                <a:ea typeface="Calibri" pitchFamily="34" charset="-122"/>
                <a:cs typeface="Calibri" pitchFamily="34" charset="-120"/>
              </a:rPr>
              <a:t>AGENT SKILLS  ·  07 / 07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 Skills</dc:title>
  <dc:subject>PptxGenJS Presentation</dc:subject>
  <dc:creator>Presentation</dc:creator>
  <cp:lastModifiedBy>Presentation</cp:lastModifiedBy>
  <cp:revision>1</cp:revision>
  <dcterms:created xsi:type="dcterms:W3CDTF">2026-05-19T01:29:51Z</dcterms:created>
  <dcterms:modified xsi:type="dcterms:W3CDTF">2026-05-19T01:29:51Z</dcterms:modified>
</cp:coreProperties>
</file>